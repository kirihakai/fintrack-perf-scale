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a635f315-fc53-732a-cd5e-d76d539d7d9a}">
          <p14:sldIdLst>
            <p14:sldId id="256"/>
          </p14:sldIdLst>
        </p14:section>
        <p14:section name="Cadrage" id="{789d4544-6b6d-ca69-dd62-a4c82864a3fe}">
          <p14:sldIdLst>
            <p14:sldId id="257"/>
            <p14:sldId id="258"/>
          </p14:sldIdLst>
        </p14:section>
        <p14:section name="Démarche" id="{42a784c4-75b7-63e4-1511-27363ed417ec}">
          <p14:sldIdLst>
            <p14:sldId id="259"/>
          </p14:sldIdLst>
        </p14:section>
        <p14:section name="Résultats" id="{d7648f66-40a0-f904-8493-ddc5e48917c4}">
          <p14:sldIdLst>
            <p14:sldId id="260"/>
            <p14:sldId id="261"/>
            <p14:sldId id="262"/>
            <p14:sldId id="263"/>
          </p14:sldIdLst>
        </p14:section>
        <p14:section name="Bilan" id="{fe31a381-64d5-a701-ce30-97a6107f83bb}">
          <p14:sldIdLst>
            <p14:sldId id="264"/>
            <p14:sldId id="265"/>
          </p14:sldIdLst>
        </p14:section>
        <p14:section name="Retour d'expérience" id="{05b1e624-9cff-0cdf-a0de-1dc852133979}">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mn-lt"/>
              </a:defRPr>
            </a:pPr>
            <a:r>
              <a:rPr sz="1300" b="0" i="0" u="none" strike="noStrike">
                <a:solidFill>
                  <a:srgbClr val="1E2761"/>
                </a:solidFill>
                <a:latin typeface="+mn-lt"/>
              </a:rPr>
              <a:t>Temps cumulé d'une exécution complète</a:t>
            </a:r>
          </a:p>
        </c:rich>
      </c:tx>
      <c:layout/>
      <c:overlay val="0"/>
    </c:title>
    <c:autoTitleDeleted val="0"/>
    <c:plotArea>
      <c:layout/>
      <c:doughnutChart>
        <c:varyColors val="1"/>
        <c:ser>
          <c:idx val="0"/>
          <c:order val="0"/>
          <c:tx>
            <c:strRef>
              <c:f>Sheet1!$B$1</c:f>
              <c:strCache>
                <c:ptCount val="1"/>
                <c:pt idx="0">
                  <c:v>Répartition</c:v>
                </c:pt>
              </c:strCache>
            </c:strRef>
          </c:tx>
          <c:spPr>
            <a:solidFill>
              <a:schemeClr val="accent1"/>
            </a:solidFill>
            <a:ln w="9525" cap="flat">
              <a:solidFill>
                <a:srgbClr val="F9F9F9"/>
              </a:solidFill>
              <a:prstDash val="solid"/>
              <a:round/>
            </a:ln>
            <a:effectLst/>
          </c:spPr>
          <c:dPt>
            <c:idx val="0"/>
            <c:bubble3D val="0"/>
            <c:spPr>
              <a:solidFill>
                <a:srgbClr val="E07A3F"/>
              </a:solidFill>
              <a:effectLst/>
            </c:spPr>
          </c:dPt>
          <c:dPt>
            <c:idx val="1"/>
            <c:bubble3D val="0"/>
            <c:spPr>
              <a:solidFill>
                <a:srgbClr val="4A7FD1"/>
              </a:solidFill>
              <a:effectLst/>
            </c:spPr>
          </c:dPt>
          <c:dPt>
            <c:idx val="2"/>
            <c:bubble3D val="0"/>
            <c:spPr>
              <a:solidFill>
                <a:srgbClr val="CADCFC"/>
              </a:solidFill>
              <a:effectLst/>
            </c:spPr>
          </c:dPt>
          <c:dPt>
            <c:idx val="3"/>
            <c:bubble3D val="0"/>
            <c:spPr>
              <a:solidFill>
                <a:srgbClr val="8A94A6"/>
              </a:solidFill>
              <a:effectLst/>
            </c:spPr>
          </c:dPt>
          <c:dLbls>
            <c:dLbl>
              <c:idx val="0"/>
              <c:numFmt formatCode="0&quot;%&quot;" sourceLinked="0"/>
              <c:spPr/>
              <c:txPr>
                <a:bodyPr/>
                <a:lstStyle/>
                <a:p>
                  <a:pPr>
                    <a:defRPr sz="1150" b="0" i="0" u="none" strike="noStrike">
                      <a:solidFill>
                        <a:srgbClr val="1E2761"/>
                      </a:solidFill>
                      <a:latin typeface="+mn-lt"/>
                    </a:defRPr>
                  </a:pPr>
                </a:p>
              </c:txPr>
              <c:showLegendKey val="0"/>
              <c:showVal val="1"/>
              <c:showCatName val="0"/>
              <c:showSerName val="0"/>
              <c:showPercent val="0"/>
              <c:showBubbleSize val="0"/>
            </c:dLbl>
            <c:dLbl>
              <c:idx val="1"/>
              <c:numFmt formatCode="0&quot;%&quot;" sourceLinked="0"/>
              <c:spPr/>
              <c:txPr>
                <a:bodyPr/>
                <a:lstStyle/>
                <a:p>
                  <a:pPr>
                    <a:defRPr sz="1150" b="0" i="0" u="none" strike="noStrike">
                      <a:solidFill>
                        <a:srgbClr val="1E2761"/>
                      </a:solidFill>
                      <a:latin typeface="+mn-lt"/>
                    </a:defRPr>
                  </a:pPr>
                </a:p>
              </c:txPr>
              <c:showLegendKey val="0"/>
              <c:showVal val="1"/>
              <c:showCatName val="0"/>
              <c:showSerName val="0"/>
              <c:showPercent val="0"/>
              <c:showBubbleSize val="0"/>
            </c:dLbl>
            <c:dLbl>
              <c:idx val="2"/>
              <c:numFmt formatCode="0&quot;%&quot;" sourceLinked="0"/>
              <c:spPr/>
              <c:txPr>
                <a:bodyPr/>
                <a:lstStyle/>
                <a:p>
                  <a:pPr>
                    <a:defRPr sz="1150" b="0" i="0" u="none" strike="noStrike">
                      <a:solidFill>
                        <a:srgbClr val="1E2761"/>
                      </a:solidFill>
                      <a:latin typeface="+mn-lt"/>
                    </a:defRPr>
                  </a:pPr>
                </a:p>
              </c:txPr>
              <c:showLegendKey val="0"/>
              <c:showVal val="1"/>
              <c:showCatName val="0"/>
              <c:showSerName val="0"/>
              <c:showPercent val="0"/>
              <c:showBubbleSize val="0"/>
            </c:dLbl>
            <c:dLbl>
              <c:idx val="3"/>
              <c:numFmt formatCode="0&quot;%&quot;" sourceLinked="0"/>
              <c:spPr/>
              <c:txPr>
                <a:bodyPr/>
                <a:lstStyle/>
                <a:p>
                  <a:pPr>
                    <a:defRPr sz="1150" b="0" i="0" u="none" strike="noStrike">
                      <a:solidFill>
                        <a:srgbClr val="1E2761"/>
                      </a:solidFill>
                      <a:latin typeface="+mn-lt"/>
                    </a:defRPr>
                  </a:pPr>
                </a:p>
              </c:txPr>
              <c:showLegendKey val="0"/>
              <c:showVal val="1"/>
              <c:showCatName val="0"/>
              <c:showSerName val="0"/>
              <c:showPercent val="0"/>
              <c:showBubbleSize val="0"/>
            </c:dLbl>
            <c:numFmt formatCode="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Tests de données</c:v>
                </c:pt>
                <c:pt idx="1">
                  <c:v>Modèles</c:v>
                </c:pt>
                <c:pt idx="2">
                  <c:v>Tests unitaires</c:v>
                </c:pt>
                <c:pt idx="3">
                  <c:v>Snapshot</c:v>
                </c:pt>
              </c:strCache>
            </c:strRef>
          </c:cat>
          <c:val>
            <c:numRef>
              <c:f>Sheet1!$B$2:$B$5</c:f>
              <c:numCache>
                <c:ptCount val="4"/>
                <c:pt idx="0">
                  <c:v>71</c:v>
                </c:pt>
                <c:pt idx="1">
                  <c:v>16</c:v>
                </c:pt>
                <c:pt idx="2">
                  <c:v>11</c:v>
                </c:pt>
                <c:pt idx="3">
                  <c:v>2</c:v>
                </c:pt>
              </c:numCache>
            </c:numRef>
          </c:val>
        </c:ser>
        <c:firstSliceAng val="0"/>
        <c:holeSize val="55"/>
      </c:doughnutChart>
      <c:spPr>
        <a:noFill/>
        <a:ln>
          <a:noFill/>
        </a:ln>
        <a:effectLst/>
      </c:spPr>
    </c:plotArea>
    <c:legend>
      <c:legendPos val="b"/>
      <c:overlay val="0"/>
      <c:txPr>
        <a:bodyPr/>
        <a:lstStyle/>
        <a:p>
          <a:pPr>
            <a:defRPr sz="1150">
              <a:solidFill>
                <a:srgbClr val="1E276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mn-lt"/>
              </a:defRPr>
            </a:pPr>
            <a:r>
              <a:rPr sz="1300" b="0" i="0" u="none" strike="noStrike">
                <a:solidFill>
                  <a:srgbClr val="1E2761"/>
                </a:solidFill>
                <a:latin typeface="+mn-lt"/>
              </a:rPr>
              <a:t>Reconstruction complète, en secondes</a:t>
            </a:r>
          </a:p>
        </c:rich>
      </c:tx>
      <c:layout/>
      <c:overlay val="0"/>
    </c:title>
    <c:autoTitleDeleted val="0"/>
    <c:plotArea>
      <c:layout/>
      <c:barChart>
        <c:barDir val="col"/>
        <c:grouping val="clustered"/>
        <c:varyColors val="0"/>
        <c:ser>
          <c:idx val="0"/>
          <c:order val="0"/>
          <c:tx>
            <c:strRef>
              <c:f>Sheet1!$B$1</c:f>
              <c:strCache>
                <c:ptCount val="1"/>
                <c:pt idx="0">
                  <c:v>Durée (s)</c:v>
                </c:pt>
              </c:strCache>
            </c:strRef>
          </c:tx>
          <c:spPr>
            <a:solidFill>
              <a:srgbClr val="2E8B6B"/>
            </a:solidFill>
            <a:effectLst/>
          </c:spPr>
          <c:invertIfNegative val="0"/>
          <c:dLbls>
            <c:numFmt formatCode="#,##0" sourceLinked="0"/>
            <c:txPr>
              <a:bodyPr/>
              <a:lstStyle/>
              <a:p>
                <a:pPr>
                  <a:defRPr b="0" i="0" strike="noStrike" sz="1200" u="none">
                    <a:solidFill>
                      <a:srgbClr val="1E2761"/>
                    </a:solidFill>
                    <a:latin typeface="+mn-lt"/>
                  </a:defRPr>
                </a:pPr>
              </a:p>
            </c:txPr>
            <c:showLegendKey val="0"/>
            <c:showVal val="1"/>
            <c:showCatName val="0"/>
            <c:showSerName val="0"/>
            <c:showPercent val="0"/>
            <c:showBubbleSize val="0"/>
            <c:showLeaderLines val="0"/>
          </c:dLbls>
          <c:dPt>
            <c:idx val="0"/>
            <c:invertIfNegative val="0"/>
            <c:bubble3D val="0"/>
            <c:spPr>
              <a:solidFill>
                <a:srgbClr val="2E8B6B"/>
              </a:solidFill>
              <a:effectLst/>
            </c:spPr>
          </c:dPt>
          <c:dPt>
            <c:idx val="1"/>
            <c:invertIfNegative val="0"/>
            <c:bubble3D val="0"/>
            <c:spPr>
              <a:solidFill>
                <a:srgbClr val="E07A3F"/>
              </a:solidFill>
              <a:effectLst/>
            </c:spPr>
          </c:dPt>
          <c:cat>
            <c:multiLvlStrRef>
              <c:f>Sheet1!$A$2:$A$3</c:f>
              <c:multiLvlStrCache>
                <c:ptCount val="2"/>
                <c:lvl>
                  <c:pt idx="0">
                    <c:v>Merge</c:v>
                  </c:pt>
                  <c:pt idx="1">
                    <c:v>Microbatch</c:v>
                  </c:pt>
                </c:lvl>
              </c:multiLvlStrCache>
            </c:multiLvlStrRef>
          </c:cat>
          <c:val>
            <c:numRef>
              <c:f>Sheet1!$B$2:$B$3</c:f>
              <c:numCache>
                <c:formatCode>General</c:formatCode>
                <c:ptCount val="2"/>
                <c:pt idx="0">
                  <c:v>23</c:v>
                </c:pt>
                <c:pt idx="1">
                  <c:v>2002</c:v>
                </c:pt>
              </c:numCache>
            </c:numRef>
          </c:val>
        </c:ser>
        <c:dLbls>
          <c:numFmt formatCode="#,##0" sourceLinked="0"/>
          <c:txPr>
            <a:bodyPr/>
            <a:lstStyle/>
            <a:p>
              <a:pPr>
                <a:defRPr b="0" i="0" strike="noStrike" sz="1200" u="none">
                  <a:solidFill>
                    <a:srgbClr val="1E276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761"/>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4A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poser le cadre en 30 secondes, puis annoncer le fil conducteur.
A DIRE : "FinTrack licencie sa plateforme d'analyse a quinze banques europeennes. On m'a confie une mission d'optimisation : le pipeline fonctionnait, mais il mettait quatre heures et coutait huit mille dollars par mois. Je vais vous presenter la demarche, les resultats chiffres, et ce que je n'ai pas pu faire."
FIL CONDUCTEUR a annoncer des maintenant : "mesurer avant d'optimiser" — c'est ce qui structure toute la presentation.
TIMING : 30 s. Ne pas s'attarder, le contenu commence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trois objectifs non negociables, et une precision honnete sur le volume de travail.
A DIRE : "Le CTO fixe trois objectifs. Les deux premiers sont chiffres, le troisieme est qualitatif. Point important que je repeterai : j'ai travaille sur un million de transactions, soit un centieme du volume reel. Cette precision conditionne la portee de tout ce que je vais vous montrer."
POURQUOI LE SCALE M : budget de credits Snowflake limite sur un compte d'essai. Choix assume et documente.
TRANSITION : "Avant de pouvoir optimiser, j'ai du regler un probleme que je n'avais pas anticipe."
TIMING : 1 min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savoir diagnostiquer avant d'optimiser. Ne pas presenter cela comme une plainte mais comme un resultat.
A DIRE : "Le projet m'a ete remis avec l'instruction d'optimiser. Il ne demarrait pas. J'ai passe la premiere journee a le rendre executable : dix corrections, dont quatre bloquantes. La plus instructive est celle des tests : ils etaient livres, visibles dans le depot, et n'avaient jamais tourne une seule fois."
PRECISION si on demande le detail Jinja : dbt rend le template AVANT que la base ne voie le SQL. Un commentaire SQL ne protege donc pas une expression de template.
TRANSITION : "Une fois le projet executable, j'ai pu commencer a mesurer."
TIMING : 1 min 30. C'est une slide dense, ne pas lire les quatre cartes : en commenter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la methode compte autant que le resultat. C'est elle qui rend les conclusions defendables.
A DIRE : "J'ai suivi six sprints. Le troisieme est le coeur de la mission. Le cinquieme, l'industrialisation, n'a pas ete realise — j'y reviendrai. Sur chaque sujet j'ai applique la meme sequence : mesurer une reference, formuler une hypothese, la tester, documenter la decision."
INSISTER : plusieurs hypotheses se sont averees fausses. C'est la preuve que la mesure servait a decider, pas a confirmer ce que je pensais deja.
TRANSITION : "Premier resultat, et le plus important."
TIMING :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le resultat le plus marquant de la mission, et il n'a pas ete obtenu en optimisant du SQL.
A DIRE : "Le modele etait configure correctement : strategie merge, cle unique, fenetre de sept jours. Mais la colonne qui sert a reperer les nouvelles lignes etait remplie au moment du chargement — donc identique partout. La fenetre selectionnait l'integralite de la table. Le pipeline payait le cout d'une reconstruction complete, plus celui de la fusion par-dessus."
PREUVE a citer : l'operation de fusion rapportait zero ligne inseree tout en mettant a jour 950 000 lignes inchangees.
SI ON DEMANDE comment je l'ai vu : en lisant les metriques d'execution dans l'historique des requetes Snowflake, pas dans les logs dbt qui affichaient un succes.
TRANSITION : "Ce resultat m'a conduit a mesurer plus finement ou passait le temps."
TIMING : 1 min 45. Slide centrale, prendre le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le resultat contre-intuitif qui a reoriente toute la strategie d'optimisation.
A DIRE : "J'ai profile trois requetes representatives et le build complet. Partout le meme constat : la part de calcul reel est marginale. Sur un lookup unitaire, le profil Snowflake donne 1,4 % de traitement et 68 % de synchronisation. Sur le build complet, les tests consomment quatre fois et demie le temps des modeles."
CONSEQUENCE a formuler clairement : "Optimiser le SQL ne rapporte rien a ce volume. Les leviers sont le nombre de requetes et le parallelisme — on passe deja de 1 543 secondes cumulees a 449 secondes reelles avec quatre threads."
RESERVE a annoncer soi-meme : ce profil s'inverse a grand volume. Les couts fixes restent constants pendant que le calcul est multiplie par cent.
TIMING : 1 min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montrer qu'une decision technique se justifie sur l'adequation au besoin, pas seulement sur un chronometre.
A DIRE : "Le prototype microbatch met 33 minutes la ou la strategie merge met 23 secondes, pour le meme travail. L'ecart vient du decoupage en 1 383 instructions, chacune payant son cout fixe. Mais meme si les chiffres avaient ete favorables, je ne l'aurais pas retenue : elle decoupe par date de transaction, alors que nos corrections arrivent des semaines plus tard. Elle irait moins vite en faisant moins bien."
DETAIL INTERESSANT si le temps le permet : la reconstruction couvre la periode allant du debut configure jusqu'a aujourd'hui. Sur un historique fige, 650 des 1 383 lots etaient vides — seize minutes pour ne rien produire.
QUAND LA RETENIR : tres grand volume, rattrapage cible sur une periode precise, ou fait en insertion seule.
TIMING : 1 min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la qualite de donnees ne se reduit pas a des tests qui passent. C'est le point le plus transferable de la mission.
A DIRE : "Ces trois cas ont un point commun : aucun n'a declenche la moindre erreur. Le montant converti 57 fois trop haut passait sous un controle de plage qui acceptait jusqu'a cent millions. Le compteur de rejets affichait zero, ce qui ressemblait a une bonne nouvelle."
SUR LE CONTRAT DE SCHEMA : j'ai verifie qu'il protege reellement en renommant volontairement une colonne. Le build echoue avant toute ecriture, et les modeles aval sont ignores. La table en base reste intacte.
NUANCE a apporter : un contrat protege la structure, pas la semantique. La correction de conversion n'aurait pas ete detectee par un contrat — le nom et le type n'avaient pas change.
TIMING : 1 min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donner les chiffres, puis annoncer soi-meme ce qui manque.
A DIRE : "Sept minutes pour l'ensemble du pipeline, la contre quatre heures. L'objectif du CTO est atteint. Mais je dois immediatement nuancer : sur un pour cent du volume, avec un profil de temps domine par la latence, qui ne se transpose pas lineairement."
SUR LE SPRINT 5 : l'annoncer franchement. Raison : le temps consacre a rendre le projet executable et a traiter le sprint 6. L'etat de la CI livree est documente — version d'adaptateur incompatible, macro de nettoyage inexistant, telechargement d'artefact non implemente.
PRINCIPE a formuler : un jury qui decouvre seul une limite cesse de faire confiance au reste. Mieux vaut la poser soi-meme.
TIMING : 1 min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repondre a la question du passage a l'echelle sans pretendre que les mesures actuelles s'y transposent.
A DIRE : "A cent fois le volume, le profil que je viens de montrer s'inverse : les couts fixes restent constants pendant que le calcul explose. Certaines de mes conclusions s'inverseront donc aussi."
EXEMPLE CONCRET a donner : le clustering. Aujourd'hui sa metrique est mauvaise — profondeur de 3,7 pour une cible sous 3. Mais la cle definit 192 combinaisons alors que la table ne compte que 17 micro-partitions : c'est arithmetiquement impossible. A l'echelle, avec des milliers de partitions, la cle prend tout son sens. Et malgre cette metrique, l'elagage mesure atteint deja 88 % sur le motif de filtrage dominant.
CONCLUSION a formuler : ce qui se transpose, c'est la methode, pas les reglages.
TIMING : 1 min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montrer une capacite de recul. Rester factuel, chaque point renvoie a un episode precis.
A DIRE sur les difficultes : "La plus marquante est la premiere. Un pipeline qui echoue est facile a reparer. Un pipeline qui reussit en produisant des donnees fausses demande d'aller verifier ce qu'il a reellement fait."
A DIRE sur les acquis : "Celui qui m'a le plus servi est le deuxieme. J'ai pris l'habitude de verifier ce qu'un controle a examine, et pas seulement son statut. C'est ce qui m'a fait decouvrir que les tests unitaires livres n'avaient jamais tourne."
EXEMPLE CHIFFRE disponible : Search Optimization annonce comme solution evidente pour les recherches unitaires. Mesure : aucun effet. Le gain reel venait d'eviter de lire 43 colonnes quand dix suffisent.
TIMING : 1 min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refermer sur le fil conducteur annonce en ouverture.
A DIRE : "Si je ne devais retenir qu'une chose : j'ai commence par croire que j'allais optimiser du SQL. La mesure m'a montre que le probleme etait ailleurs. C'est cette demarche, plus que les reglages retenus, qui restera valable quand le volume changera."
QUESTIONS PROBABLES :
1. Pourquoi le sprint 5 n'a pas ete fait → temps consacre a rendre le projet executable ; etat de la CI documente.
2. Comment garantir la tenue a 100 M → je ne la garantis pas ; je decris le protocole pour la verifier.
3. Pourquoi avoir conserve des defauts connus → arbitrage documente, correctifs chiffres, decision laissee au commanditaire.
4. Qu'est-ce qui a le plus coute en credits → le prototype microbatch declenche involontairement : 33 minutes de warehouse.
TIMING : 45 s, puis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rgbClr val="0F1B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286000"/>
            <a:ext cx="1088136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 </a:t>
            </a:r>
            <a:endParaRPr lang="en-US" sz="4400" dirty="0"/>
          </a:p>
        </p:txBody>
      </p:sp>
      <p:sp>
        <p:nvSpPr>
          <p:cNvPr id="3" name="Text 0"/>
          <p:cNvSpPr/>
          <p:nvPr>
            <p:ph idx="101" type="body" hasCustomPrompt="1"/>
          </p:nvPr>
        </p:nvSpPr>
        <p:spPr>
          <a:xfrm>
            <a:off x="640080" y="3749040"/>
            <a:ext cx="10881360" cy="1463040"/>
          </a:xfrm>
          <a:prstGeom prst="rect">
            <a:avLst/>
          </a:prstGeom>
          <a:noFill/>
          <a:ln/>
        </p:spPr>
        <p:txBody>
          <a:bodyPr wrap="square" rtlCol="0"/>
          <a:lstStyle>
            <a:lvl1pPr algn="l" indent="0" marL="0">
              <a:buNone/>
              <a:defRPr lang="en-US" sz="1600" dirty="0">
                <a:solidFill>
                  <a:srgbClr val="CADCFC"/>
                </a:solidFill>
              </a:defRPr>
            </a:lvl1pPr>
          </a:lstStyle>
          <a:p>
            <a:pPr algn="l" indent="0" marL="0">
              <a:buNone/>
            </a:pPr>
            <a:r>
              <a:rPr lang="en-US" sz="1600" dirty="0">
                <a:solidFill>
                  <a:srgbClr val="CADCFC"/>
                </a:solidFill>
              </a:rPr>
              <a:t> </a:t>
            </a: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r>
              <a:rPr lang="en-US" sz="3000" b="1" dirty="0">
                <a:solidFill>
                  <a:schemeClr val="tx1"/>
                </a:solidFill>
              </a:rPr>
              <a:t> </a:t>
            </a:r>
            <a:endParaRPr lang="en-US" sz="3000" dirty="0"/>
          </a:p>
        </p:txBody>
      </p:sp>
      <p:sp>
        <p:nvSpPr>
          <p:cNvPr id="3" name="Text 0"/>
          <p:cNvSpPr txBox="1"/>
          <p:nvPr/>
        </p:nvSpPr>
        <p:spPr>
          <a:xfrm>
            <a:off x="640080" y="6382512"/>
            <a:ext cx="4572000" cy="274320"/>
          </a:xfrm>
          <a:prstGeom prst="rect">
            <a:avLst/>
          </a:prstGeom>
          <a:noFill/>
          <a:ln/>
        </p:spPr>
        <p:txBody>
          <a:bodyPr wrap="square" rtlCol="0" anchor="ctr"/>
          <a:lstStyle/>
          <a:p>
            <a:pPr indent="0" marL="0">
              <a:buNone/>
            </a:pPr>
            <a:r>
              <a:rPr lang="en-US" sz="1000" dirty="0">
                <a:solidFill>
                  <a:srgbClr val="8A94A6"/>
                </a:solidFill>
              </a:rPr>
              <a:t>FinTrack Perf &amp; Scale</a:t>
            </a:r>
            <a:endParaRPr lang="en-US" sz="1000" dirty="0"/>
          </a:p>
        </p:txBody>
      </p:sp>
      <p:sp>
        <p:nvSpPr>
          <p:cNvPr id="25" name="Slide Number Placeholder 0"/>
          <p:cNvSpPr>
            <a:spLocks noGrp="1"/>
          </p:cNvSpPr>
          <p:nvPr>
            <p:ph type="sldNum" sz="quarter" idx="4294967295"/>
          </p:nvPr>
        </p:nvSpPr>
        <p:spPr>
          <a:xfrm>
            <a:off x="1124712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IN">
    <p:bg>
      <p:bgPr>
        <a:solidFill>
          <a:srgbClr val="0F1B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94560"/>
            <a:ext cx="10881360" cy="10058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r>
              <a:rPr lang="en-US" sz="3800" b="1" dirty="0">
                <a:solidFill>
                  <a:schemeClr val="bg1"/>
                </a:solidFill>
              </a:rPr>
              <a:t> </a:t>
            </a:r>
            <a:endParaRPr lang="en-US" sz="3800" dirty="0"/>
          </a:p>
        </p:txBody>
      </p:sp>
      <p:sp>
        <p:nvSpPr>
          <p:cNvPr id="3" name="Text 0"/>
          <p:cNvSpPr/>
          <p:nvPr>
            <p:ph idx="101" type="body" hasCustomPrompt="1"/>
          </p:nvPr>
        </p:nvSpPr>
        <p:spPr>
          <a:xfrm>
            <a:off x="640080" y="3291840"/>
            <a:ext cx="10881360" cy="1828800"/>
          </a:xfrm>
          <a:prstGeom prst="rect">
            <a:avLst/>
          </a:prstGeom>
          <a:noFill/>
          <a:ln/>
        </p:spPr>
        <p:txBody>
          <a:bodyPr wrap="square" rtlCol="0"/>
          <a:lstStyle>
            <a:lvl1pPr algn="l" indent="0" marL="0">
              <a:buNone/>
              <a:defRPr lang="en-US" sz="1700" dirty="0">
                <a:solidFill>
                  <a:srgbClr val="CADCFC"/>
                </a:solidFill>
              </a:defRPr>
            </a:lvl1pPr>
          </a:lstStyle>
          <a:p>
            <a:pPr algn="l" indent="0" marL="0">
              <a:buNone/>
            </a:pPr>
            <a:r>
              <a:rPr lang="en-US" sz="1700" dirty="0">
                <a:solidFill>
                  <a:srgbClr val="CADCFC"/>
                </a:solidFill>
              </a:rPr>
              <a:t> </a:t>
            </a:r>
            <a:endParaRPr lang="en-US" sz="17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286000"/>
            <a:ext cx="10881360" cy="1371600"/>
          </a:xfrm>
          <a:prstGeom prst="rect">
            <a:avLst/>
          </a:prstGeom>
          <a:noFill/>
          <a:ln/>
        </p:spPr>
        <p:txBody>
          <a:bodyPr wrap="square" rtlCol="0"/>
          <a:lstStyle/>
          <a:p>
            <a:pPr algn="l" indent="0" marL="0">
              <a:buNone/>
            </a:pPr>
            <a:r>
              <a:rPr lang="en-US" sz="4400" b="1" dirty="0">
                <a:solidFill>
                  <a:schemeClr val="bg1"/>
                </a:solidFill>
              </a:rPr>
              <a:t>FinTrack Perf &amp; Scale</a:t>
            </a:r>
            <a:endParaRPr lang="en-US" sz="4400" dirty="0"/>
          </a:p>
        </p:txBody>
      </p:sp>
      <p:sp>
        <p:nvSpPr>
          <p:cNvPr id="3" name="Text 0"/>
          <p:cNvSpPr/>
          <p:nvPr>
            <p:ph idx="101" type="body" hasCustomPrompt="1"/>
          </p:nvPr>
        </p:nvSpPr>
        <p:spPr>
          <a:xfrm>
            <a:off x="640080" y="3749040"/>
            <a:ext cx="10881360" cy="1463040"/>
          </a:xfrm>
          <a:prstGeom prst="rect">
            <a:avLst/>
          </a:prstGeom>
          <a:noFill/>
          <a:ln/>
        </p:spPr>
        <p:txBody>
          <a:bodyPr wrap="square" rtlCol="0"/>
          <a:lstStyle/>
          <a:p>
            <a:pPr algn="l" indent="0" marL="0">
              <a:buNone/>
            </a:pPr>
            <a:r>
              <a:rPr lang="en-US" sz="1800" dirty="0">
                <a:solidFill>
                  <a:srgbClr val="CADCFC"/>
                </a:solidFill>
              </a:rPr>
              <a:t>Optimisation et industrialisation d'une plateforme analytique multi-tenant</a:t>
            </a:r>
            <a:endParaRPr lang="en-US" sz="1600" dirty="0"/>
          </a:p>
          <a:p>
            <a:pPr algn="l" indent="0" marL="0">
              <a:buNone/>
            </a:pPr>
            <a:r>
              <a:rPr lang="en-US" sz="1400" dirty="0">
                <a:solidFill>
                  <a:srgbClr val="8A94A6"/>
                </a:solidFill>
              </a:rPr>
              <a:t>Snowflake · dbt · mission de consultant Data Engineer</a:t>
            </a:r>
            <a:endParaRPr lang="en-US" sz="1600" dirty="0"/>
          </a:p>
        </p:txBody>
      </p:sp>
      <p:sp>
        <p:nvSpPr>
          <p:cNvPr id="4" name="trait"/>
          <p:cNvSpPr/>
          <p:nvPr/>
        </p:nvSpPr>
        <p:spPr>
          <a:xfrm>
            <a:off x="640080" y="3931920"/>
            <a:ext cx="1463040" cy="45720"/>
          </a:xfrm>
          <a:prstGeom prst="rect">
            <a:avLst/>
          </a:prstGeom>
          <a:solidFill>
            <a:srgbClr val="E07A3F"/>
          </a:solidFill>
          <a:ln w="12700">
            <a:solidFill>
              <a:srgbClr val="E07A3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rtlCol="0" anchor="ctr"/>
          <a:lstStyle/>
          <a:p>
            <a:pPr algn="l" indent="0" marL="0">
              <a:buNone/>
            </a:pPr>
            <a:r>
              <a:rPr lang="en-US" sz="3000" b="1" dirty="0">
                <a:solidFill>
                  <a:schemeClr val="tx1"/>
                </a:solidFill>
              </a:rPr>
              <a:t>Le mandat</a:t>
            </a:r>
            <a:endParaRPr lang="en-US" sz="3000" dirty="0"/>
          </a:p>
        </p:txBody>
      </p:sp>
      <p:sp>
        <p:nvSpPr>
          <p:cNvPr id="3" name="Text 1"/>
          <p:cNvSpPr txBox="1"/>
          <p:nvPr/>
        </p:nvSpPr>
        <p:spPr>
          <a:xfrm>
            <a:off x="640080" y="1207008"/>
            <a:ext cx="10881360" cy="502920"/>
          </a:xfrm>
          <a:prstGeom prst="rect">
            <a:avLst/>
          </a:prstGeom>
          <a:noFill/>
          <a:ln/>
        </p:spPr>
        <p:txBody>
          <a:bodyPr wrap="square" lIns="0" tIns="0" rIns="0" bIns="0" rtlCol="0" anchor="ctr"/>
          <a:lstStyle/>
          <a:p>
            <a:pPr indent="0" marL="0">
              <a:lnSpc>
                <a:spcPct val="110000"/>
              </a:lnSpc>
              <a:buNone/>
            </a:pPr>
            <a:r>
              <a:rPr lang="en-US" sz="1500" dirty="0">
                <a:solidFill>
                  <a:srgbClr val="1E2761"/>
                </a:solidFill>
              </a:rPr>
              <a:t>Plateforme B2B2C : quinze banques partenaires déversent leurs flux dans un entrepôt commun, cloisonné par tenant.</a:t>
            </a:r>
            <a:endParaRPr lang="en-US" sz="1500" dirty="0"/>
          </a:p>
        </p:txBody>
      </p:sp>
      <p:sp>
        <p:nvSpPr>
          <p:cNvPr id="4" name="stat-transactions p"/>
          <p:cNvSpPr txBox="1"/>
          <p:nvPr/>
        </p:nvSpPr>
        <p:spPr>
          <a:xfrm>
            <a:off x="640080" y="1828800"/>
            <a:ext cx="2560320" cy="777240"/>
          </a:xfrm>
          <a:prstGeom prst="rect">
            <a:avLst/>
          </a:prstGeom>
          <a:noFill/>
          <a:ln/>
        </p:spPr>
        <p:txBody>
          <a:bodyPr wrap="square" lIns="0" tIns="0" rIns="0" bIns="0" rtlCol="0" anchor="ctr"/>
          <a:lstStyle/>
          <a:p>
            <a:pPr algn="ctr" indent="0" marL="0">
              <a:buNone/>
            </a:pPr>
            <a:r>
              <a:rPr lang="en-US" sz="4200" b="1" dirty="0">
                <a:solidFill>
                  <a:srgbClr val="1E2761"/>
                </a:solidFill>
              </a:rPr>
              <a:t>100 M</a:t>
            </a:r>
            <a:endParaRPr lang="en-US" sz="4200" dirty="0"/>
          </a:p>
        </p:txBody>
      </p:sp>
      <p:sp>
        <p:nvSpPr>
          <p:cNvPr id="5" name="Text 3"/>
          <p:cNvSpPr txBox="1"/>
          <p:nvPr/>
        </p:nvSpPr>
        <p:spPr>
          <a:xfrm>
            <a:off x="640080" y="2606040"/>
            <a:ext cx="2560320" cy="457200"/>
          </a:xfrm>
          <a:prstGeom prst="rect">
            <a:avLst/>
          </a:prstGeom>
          <a:noFill/>
          <a:ln/>
        </p:spPr>
        <p:txBody>
          <a:bodyPr wrap="square" lIns="0" tIns="0" rIns="0" bIns="0" rtlCol="0" anchor="ctr"/>
          <a:lstStyle/>
          <a:p>
            <a:pPr algn="ctr" indent="0" marL="0">
              <a:buNone/>
            </a:pPr>
            <a:r>
              <a:rPr lang="en-US" sz="1150" dirty="0">
                <a:solidFill>
                  <a:srgbClr val="8A94A6"/>
                </a:solidFill>
              </a:rPr>
              <a:t>transactions par mois</a:t>
            </a:r>
            <a:endParaRPr lang="en-US" sz="1150" dirty="0"/>
          </a:p>
        </p:txBody>
      </p:sp>
      <p:sp>
        <p:nvSpPr>
          <p:cNvPr id="6" name="stat-comptes actifs"/>
          <p:cNvSpPr txBox="1"/>
          <p:nvPr/>
        </p:nvSpPr>
        <p:spPr>
          <a:xfrm>
            <a:off x="3383280" y="1828800"/>
            <a:ext cx="2560320" cy="777240"/>
          </a:xfrm>
          <a:prstGeom prst="rect">
            <a:avLst/>
          </a:prstGeom>
          <a:noFill/>
          <a:ln/>
        </p:spPr>
        <p:txBody>
          <a:bodyPr wrap="square" lIns="0" tIns="0" rIns="0" bIns="0" rtlCol="0" anchor="ctr"/>
          <a:lstStyle/>
          <a:p>
            <a:pPr algn="ctr" indent="0" marL="0">
              <a:buNone/>
            </a:pPr>
            <a:r>
              <a:rPr lang="en-US" sz="4200" b="1" dirty="0">
                <a:solidFill>
                  <a:srgbClr val="1E2761"/>
                </a:solidFill>
              </a:rPr>
              <a:t>1 M</a:t>
            </a:r>
            <a:endParaRPr lang="en-US" sz="4200" dirty="0"/>
          </a:p>
        </p:txBody>
      </p:sp>
      <p:sp>
        <p:nvSpPr>
          <p:cNvPr id="7" name="Text 5"/>
          <p:cNvSpPr txBox="1"/>
          <p:nvPr/>
        </p:nvSpPr>
        <p:spPr>
          <a:xfrm>
            <a:off x="3383280" y="2606040"/>
            <a:ext cx="2560320" cy="457200"/>
          </a:xfrm>
          <a:prstGeom prst="rect">
            <a:avLst/>
          </a:prstGeom>
          <a:noFill/>
          <a:ln/>
        </p:spPr>
        <p:txBody>
          <a:bodyPr wrap="square" lIns="0" tIns="0" rIns="0" bIns="0" rtlCol="0" anchor="ctr"/>
          <a:lstStyle/>
          <a:p>
            <a:pPr algn="ctr" indent="0" marL="0">
              <a:buNone/>
            </a:pPr>
            <a:r>
              <a:rPr lang="en-US" sz="1150" dirty="0">
                <a:solidFill>
                  <a:srgbClr val="8A94A6"/>
                </a:solidFill>
              </a:rPr>
              <a:t>comptes actifs</a:t>
            </a:r>
            <a:endParaRPr lang="en-US" sz="1150" dirty="0"/>
          </a:p>
        </p:txBody>
      </p:sp>
      <p:sp>
        <p:nvSpPr>
          <p:cNvPr id="8" name="stat-colonnes par t"/>
          <p:cNvSpPr txBox="1"/>
          <p:nvPr/>
        </p:nvSpPr>
        <p:spPr>
          <a:xfrm>
            <a:off x="6126480" y="1828800"/>
            <a:ext cx="2560320" cy="777240"/>
          </a:xfrm>
          <a:prstGeom prst="rect">
            <a:avLst/>
          </a:prstGeom>
          <a:noFill/>
          <a:ln/>
        </p:spPr>
        <p:txBody>
          <a:bodyPr wrap="square" lIns="0" tIns="0" rIns="0" bIns="0" rtlCol="0" anchor="ctr"/>
          <a:lstStyle/>
          <a:p>
            <a:pPr algn="ctr" indent="0" marL="0">
              <a:buNone/>
            </a:pPr>
            <a:r>
              <a:rPr lang="en-US" sz="4200" b="1" dirty="0">
                <a:solidFill>
                  <a:srgbClr val="1E2761"/>
                </a:solidFill>
              </a:rPr>
              <a:t>80</a:t>
            </a:r>
            <a:endParaRPr lang="en-US" sz="4200" dirty="0"/>
          </a:p>
        </p:txBody>
      </p:sp>
      <p:sp>
        <p:nvSpPr>
          <p:cNvPr id="9" name="Text 7"/>
          <p:cNvSpPr txBox="1"/>
          <p:nvPr/>
        </p:nvSpPr>
        <p:spPr>
          <a:xfrm>
            <a:off x="6126480" y="2606040"/>
            <a:ext cx="2560320" cy="457200"/>
          </a:xfrm>
          <a:prstGeom prst="rect">
            <a:avLst/>
          </a:prstGeom>
          <a:noFill/>
          <a:ln/>
        </p:spPr>
        <p:txBody>
          <a:bodyPr wrap="square" lIns="0" tIns="0" rIns="0" bIns="0" rtlCol="0" anchor="ctr"/>
          <a:lstStyle/>
          <a:p>
            <a:pPr algn="ctr" indent="0" marL="0">
              <a:buNone/>
            </a:pPr>
            <a:r>
              <a:rPr lang="en-US" sz="1150" dirty="0">
                <a:solidFill>
                  <a:srgbClr val="8A94A6"/>
                </a:solidFill>
              </a:rPr>
              <a:t>colonnes par transaction</a:t>
            </a:r>
            <a:endParaRPr lang="en-US" sz="1150" dirty="0"/>
          </a:p>
        </p:txBody>
      </p:sp>
      <p:sp>
        <p:nvSpPr>
          <p:cNvPr id="10" name="stat-SLA de fraîche"/>
          <p:cNvSpPr txBox="1"/>
          <p:nvPr/>
        </p:nvSpPr>
        <p:spPr>
          <a:xfrm>
            <a:off x="8869680" y="1828800"/>
            <a:ext cx="2560320" cy="777240"/>
          </a:xfrm>
          <a:prstGeom prst="rect">
            <a:avLst/>
          </a:prstGeom>
          <a:noFill/>
          <a:ln/>
        </p:spPr>
        <p:txBody>
          <a:bodyPr wrap="square" lIns="0" tIns="0" rIns="0" bIns="0" rtlCol="0" anchor="ctr"/>
          <a:lstStyle/>
          <a:p>
            <a:pPr algn="ctr" indent="0" marL="0">
              <a:buNone/>
            </a:pPr>
            <a:r>
              <a:rPr lang="en-US" sz="4200" b="1" dirty="0">
                <a:solidFill>
                  <a:srgbClr val="1E2761"/>
                </a:solidFill>
              </a:rPr>
              <a:t>2 h</a:t>
            </a:r>
            <a:endParaRPr lang="en-US" sz="4200" dirty="0"/>
          </a:p>
        </p:txBody>
      </p:sp>
      <p:sp>
        <p:nvSpPr>
          <p:cNvPr id="11" name="Text 9"/>
          <p:cNvSpPr txBox="1"/>
          <p:nvPr/>
        </p:nvSpPr>
        <p:spPr>
          <a:xfrm>
            <a:off x="8869680" y="2606040"/>
            <a:ext cx="2560320" cy="457200"/>
          </a:xfrm>
          <a:prstGeom prst="rect">
            <a:avLst/>
          </a:prstGeom>
          <a:noFill/>
          <a:ln/>
        </p:spPr>
        <p:txBody>
          <a:bodyPr wrap="square" lIns="0" tIns="0" rIns="0" bIns="0" rtlCol="0" anchor="ctr"/>
          <a:lstStyle/>
          <a:p>
            <a:pPr algn="ctr" indent="0" marL="0">
              <a:buNone/>
            </a:pPr>
            <a:r>
              <a:rPr lang="en-US" sz="1150" dirty="0">
                <a:solidFill>
                  <a:srgbClr val="8A94A6"/>
                </a:solidFill>
              </a:rPr>
              <a:t>SLA de fraîcheur, tenants gold</a:t>
            </a:r>
            <a:endParaRPr lang="en-US" sz="1150" dirty="0"/>
          </a:p>
        </p:txBody>
      </p:sp>
      <p:sp>
        <p:nvSpPr>
          <p:cNvPr id="12" name="carte-Temps divisé par"/>
          <p:cNvSpPr/>
          <p:nvPr/>
        </p:nvSpPr>
        <p:spPr>
          <a:xfrm>
            <a:off x="640080" y="3566160"/>
            <a:ext cx="3566160" cy="1600200"/>
          </a:xfrm>
          <a:prstGeom prst="roundRect">
            <a:avLst>
              <a:gd name="adj" fmla="val 3429"/>
            </a:avLst>
          </a:prstGeom>
          <a:solidFill>
            <a:srgbClr val="EEF2FA"/>
          </a:solidFill>
          <a:ln w="12700">
            <a:solidFill>
              <a:srgbClr val="EEF2FA"/>
            </a:solidFill>
            <a:prstDash val="solid"/>
          </a:ln>
        </p:spPr>
      </p:sp>
      <p:sp>
        <p:nvSpPr>
          <p:cNvPr id="13" name="Text 11"/>
          <p:cNvSpPr txBox="1"/>
          <p:nvPr/>
        </p:nvSpPr>
        <p:spPr>
          <a:xfrm>
            <a:off x="914400" y="3803904"/>
            <a:ext cx="3017520" cy="256032"/>
          </a:xfrm>
          <a:prstGeom prst="rect">
            <a:avLst/>
          </a:prstGeom>
          <a:noFill/>
          <a:ln/>
        </p:spPr>
        <p:txBody>
          <a:bodyPr wrap="square" lIns="0" tIns="0" rIns="0" bIns="0" rtlCol="0" anchor="ctr"/>
          <a:lstStyle/>
          <a:p>
            <a:pPr indent="0" marL="0">
              <a:buNone/>
            </a:pPr>
            <a:r>
              <a:rPr lang="en-US" sz="1000" b="1" spc="100" kern="0" dirty="0">
                <a:solidFill>
                  <a:srgbClr val="4A7FD1"/>
                </a:solidFill>
              </a:rPr>
              <a:t>OBJECTIF 1</a:t>
            </a:r>
            <a:endParaRPr lang="en-US" sz="1000" dirty="0"/>
          </a:p>
        </p:txBody>
      </p:sp>
      <p:sp>
        <p:nvSpPr>
          <p:cNvPr id="14" name="Text 12"/>
          <p:cNvSpPr txBox="1"/>
          <p:nvPr/>
        </p:nvSpPr>
        <p:spPr>
          <a:xfrm>
            <a:off x="914400" y="4096512"/>
            <a:ext cx="3017520" cy="411480"/>
          </a:xfrm>
          <a:prstGeom prst="rect">
            <a:avLst/>
          </a:prstGeom>
          <a:noFill/>
          <a:ln/>
        </p:spPr>
        <p:txBody>
          <a:bodyPr wrap="square" lIns="0" tIns="0" rIns="0" bIns="0" rtlCol="0" anchor="ctr"/>
          <a:lstStyle/>
          <a:p>
            <a:pPr indent="0" marL="0">
              <a:buNone/>
            </a:pPr>
            <a:r>
              <a:rPr lang="en-US" sz="1500" b="1" dirty="0">
                <a:solidFill>
                  <a:schemeClr val="tx1"/>
                </a:solidFill>
              </a:rPr>
              <a:t>Temps divisé par quatre</a:t>
            </a:r>
            <a:endParaRPr lang="en-US" sz="1500" dirty="0"/>
          </a:p>
        </p:txBody>
      </p:sp>
      <p:sp>
        <p:nvSpPr>
          <p:cNvPr id="15" name="Text 13"/>
          <p:cNvSpPr txBox="1"/>
          <p:nvPr/>
        </p:nvSpPr>
        <p:spPr>
          <a:xfrm>
            <a:off x="914400" y="4517136"/>
            <a:ext cx="3017520" cy="466344"/>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Ramener le pipeline complet sous la barre d'une heure.</a:t>
            </a:r>
            <a:endParaRPr lang="en-US" sz="1250" dirty="0"/>
          </a:p>
        </p:txBody>
      </p:sp>
      <p:sp>
        <p:nvSpPr>
          <p:cNvPr id="16" name="carte-Coûts divisés pa"/>
          <p:cNvSpPr/>
          <p:nvPr/>
        </p:nvSpPr>
        <p:spPr>
          <a:xfrm>
            <a:off x="4389120" y="3566160"/>
            <a:ext cx="3566160" cy="1600200"/>
          </a:xfrm>
          <a:prstGeom prst="roundRect">
            <a:avLst>
              <a:gd name="adj" fmla="val 3429"/>
            </a:avLst>
          </a:prstGeom>
          <a:solidFill>
            <a:srgbClr val="EEF2FA"/>
          </a:solidFill>
          <a:ln w="12700">
            <a:solidFill>
              <a:srgbClr val="EEF2FA"/>
            </a:solidFill>
            <a:prstDash val="solid"/>
          </a:ln>
        </p:spPr>
      </p:sp>
      <p:sp>
        <p:nvSpPr>
          <p:cNvPr id="17" name="Text 15"/>
          <p:cNvSpPr txBox="1"/>
          <p:nvPr/>
        </p:nvSpPr>
        <p:spPr>
          <a:xfrm>
            <a:off x="4663440" y="3803904"/>
            <a:ext cx="3017520" cy="256032"/>
          </a:xfrm>
          <a:prstGeom prst="rect">
            <a:avLst/>
          </a:prstGeom>
          <a:noFill/>
          <a:ln/>
        </p:spPr>
        <p:txBody>
          <a:bodyPr wrap="square" lIns="0" tIns="0" rIns="0" bIns="0" rtlCol="0" anchor="ctr"/>
          <a:lstStyle/>
          <a:p>
            <a:pPr indent="0" marL="0">
              <a:buNone/>
            </a:pPr>
            <a:r>
              <a:rPr lang="en-US" sz="1000" b="1" spc="100" kern="0" dirty="0">
                <a:solidFill>
                  <a:srgbClr val="4A7FD1"/>
                </a:solidFill>
              </a:rPr>
              <a:t>OBJECTIF 2</a:t>
            </a:r>
            <a:endParaRPr lang="en-US" sz="1000" dirty="0"/>
          </a:p>
        </p:txBody>
      </p:sp>
      <p:sp>
        <p:nvSpPr>
          <p:cNvPr id="18" name="Text 16"/>
          <p:cNvSpPr txBox="1"/>
          <p:nvPr/>
        </p:nvSpPr>
        <p:spPr>
          <a:xfrm>
            <a:off x="4663440" y="4096512"/>
            <a:ext cx="3017520" cy="411480"/>
          </a:xfrm>
          <a:prstGeom prst="rect">
            <a:avLst/>
          </a:prstGeom>
          <a:noFill/>
          <a:ln/>
        </p:spPr>
        <p:txBody>
          <a:bodyPr wrap="square" lIns="0" tIns="0" rIns="0" bIns="0" rtlCol="0" anchor="ctr"/>
          <a:lstStyle/>
          <a:p>
            <a:pPr indent="0" marL="0">
              <a:buNone/>
            </a:pPr>
            <a:r>
              <a:rPr lang="en-US" sz="1500" b="1" dirty="0">
                <a:solidFill>
                  <a:schemeClr val="tx1"/>
                </a:solidFill>
              </a:rPr>
              <a:t>Coûts divisés par deux</a:t>
            </a:r>
            <a:endParaRPr lang="en-US" sz="1500" dirty="0"/>
          </a:p>
        </p:txBody>
      </p:sp>
      <p:sp>
        <p:nvSpPr>
          <p:cNvPr id="19" name="Text 17"/>
          <p:cNvSpPr txBox="1"/>
          <p:nvPr/>
        </p:nvSpPr>
        <p:spPr>
          <a:xfrm>
            <a:off x="4663440" y="4517136"/>
            <a:ext cx="3017520" cy="466344"/>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Sans dégrader la fraîcheur contractuelle des données.</a:t>
            </a:r>
            <a:endParaRPr lang="en-US" sz="1250" dirty="0"/>
          </a:p>
        </p:txBody>
      </p:sp>
      <p:sp>
        <p:nvSpPr>
          <p:cNvPr id="20" name="carte-Modélisation ind"/>
          <p:cNvSpPr/>
          <p:nvPr/>
        </p:nvSpPr>
        <p:spPr>
          <a:xfrm>
            <a:off x="8138160" y="3566160"/>
            <a:ext cx="3566160" cy="1600200"/>
          </a:xfrm>
          <a:prstGeom prst="roundRect">
            <a:avLst>
              <a:gd name="adj" fmla="val 3429"/>
            </a:avLst>
          </a:prstGeom>
          <a:solidFill>
            <a:srgbClr val="EEF2FA"/>
          </a:solidFill>
          <a:ln w="12700">
            <a:solidFill>
              <a:srgbClr val="EEF2FA"/>
            </a:solidFill>
            <a:prstDash val="solid"/>
          </a:ln>
        </p:spPr>
      </p:sp>
      <p:sp>
        <p:nvSpPr>
          <p:cNvPr id="21" name="Text 19"/>
          <p:cNvSpPr txBox="1"/>
          <p:nvPr/>
        </p:nvSpPr>
        <p:spPr>
          <a:xfrm>
            <a:off x="8412480" y="3803904"/>
            <a:ext cx="3017520" cy="256032"/>
          </a:xfrm>
          <a:prstGeom prst="rect">
            <a:avLst/>
          </a:prstGeom>
          <a:noFill/>
          <a:ln/>
        </p:spPr>
        <p:txBody>
          <a:bodyPr wrap="square" lIns="0" tIns="0" rIns="0" bIns="0" rtlCol="0" anchor="ctr"/>
          <a:lstStyle/>
          <a:p>
            <a:pPr indent="0" marL="0">
              <a:buNone/>
            </a:pPr>
            <a:r>
              <a:rPr lang="en-US" sz="1000" b="1" spc="100" kern="0" dirty="0">
                <a:solidFill>
                  <a:srgbClr val="4A7FD1"/>
                </a:solidFill>
              </a:rPr>
              <a:t>OBJECTIF 3</a:t>
            </a:r>
            <a:endParaRPr lang="en-US" sz="1000" dirty="0"/>
          </a:p>
        </p:txBody>
      </p:sp>
      <p:sp>
        <p:nvSpPr>
          <p:cNvPr id="22" name="Text 20"/>
          <p:cNvSpPr txBox="1"/>
          <p:nvPr/>
        </p:nvSpPr>
        <p:spPr>
          <a:xfrm>
            <a:off x="8412480" y="4096512"/>
            <a:ext cx="3017520" cy="411480"/>
          </a:xfrm>
          <a:prstGeom prst="rect">
            <a:avLst/>
          </a:prstGeom>
          <a:noFill/>
          <a:ln/>
        </p:spPr>
        <p:txBody>
          <a:bodyPr wrap="square" lIns="0" tIns="0" rIns="0" bIns="0" rtlCol="0" anchor="ctr"/>
          <a:lstStyle/>
          <a:p>
            <a:pPr indent="0" marL="0">
              <a:buNone/>
            </a:pPr>
            <a:r>
              <a:rPr lang="en-US" sz="1500" b="1" dirty="0">
                <a:solidFill>
                  <a:schemeClr val="tx1"/>
                </a:solidFill>
              </a:rPr>
              <a:t>Modélisation industrialisable</a:t>
            </a:r>
            <a:endParaRPr lang="en-US" sz="1500" dirty="0"/>
          </a:p>
        </p:txBody>
      </p:sp>
      <p:sp>
        <p:nvSpPr>
          <p:cNvPr id="23" name="Text 21"/>
          <p:cNvSpPr txBox="1"/>
          <p:nvPr/>
        </p:nvSpPr>
        <p:spPr>
          <a:xfrm>
            <a:off x="8412480" y="4517136"/>
            <a:ext cx="3017520" cy="466344"/>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Contrats de schéma, versioning, tests, intégration continue.</a:t>
            </a:r>
            <a:endParaRPr lang="en-US" sz="1250" dirty="0"/>
          </a:p>
        </p:txBody>
      </p:sp>
      <p:sp>
        <p:nvSpPr>
          <p:cNvPr id="24" name="Text 22"/>
          <p:cNvSpPr txBox="1"/>
          <p:nvPr/>
        </p:nvSpPr>
        <p:spPr>
          <a:xfrm>
            <a:off x="640080" y="5349240"/>
            <a:ext cx="10881360" cy="457200"/>
          </a:xfrm>
          <a:prstGeom prst="rect">
            <a:avLst/>
          </a:prstGeom>
          <a:noFill/>
          <a:ln/>
        </p:spPr>
        <p:txBody>
          <a:bodyPr wrap="square" lIns="0" tIns="0" rIns="0" bIns="0" rtlCol="0" anchor="ctr"/>
          <a:lstStyle/>
          <a:p>
            <a:pPr indent="0" marL="0">
              <a:buNone/>
            </a:pPr>
            <a:r>
              <a:rPr lang="en-US" sz="1500" b="1" dirty="0">
                <a:solidFill>
                  <a:srgbClr val="1E2761"/>
                </a:solidFill>
              </a:rPr>
              <a:t>Travail mené au scale M : un million de transactions, soit 1 % du volume de production.</a:t>
            </a:r>
            <a:endParaRPr lang="en-US" sz="1500" dirty="0"/>
          </a:p>
        </p:txBody>
      </p:sp>
      <p:sp>
        <p:nvSpPr>
          <p:cNvPr id="25" name="Slide Number Placeholder 0"/>
          <p:cNvSpPr>
            <a:spLocks noGrp="1"/>
          </p:cNvSpPr>
          <p:nvPr>
            <p:ph type="sldNum" sz="quarter" idx="4294967295"/>
          </p:nvPr>
        </p:nvSpPr>
        <p:spPr>
          <a:xfrm>
            <a:off x="1124712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rtlCol="0" anchor="ctr"/>
          <a:lstStyle/>
          <a:p>
            <a:pPr algn="l" indent="0" marL="0">
              <a:buNone/>
            </a:pPr>
            <a:r>
              <a:rPr lang="en-US" sz="3000" b="1" dirty="0">
                <a:solidFill>
                  <a:schemeClr val="tx1"/>
                </a:solidFill>
              </a:rPr>
              <a:t>L'état des lieux</a:t>
            </a:r>
            <a:endParaRPr lang="en-US" sz="3000" dirty="0"/>
          </a:p>
        </p:txBody>
      </p:sp>
      <p:sp>
        <p:nvSpPr>
          <p:cNvPr id="3" name="Text 1"/>
          <p:cNvSpPr txBox="1"/>
          <p:nvPr/>
        </p:nvSpPr>
        <p:spPr>
          <a:xfrm>
            <a:off x="640080" y="1207008"/>
            <a:ext cx="10881360" cy="502920"/>
          </a:xfrm>
          <a:prstGeom prst="rect">
            <a:avLst/>
          </a:prstGeom>
          <a:noFill/>
          <a:ln/>
        </p:spPr>
        <p:txBody>
          <a:bodyPr wrap="square" lIns="0" tIns="0" rIns="0" bIns="0" rtlCol="0" anchor="ctr"/>
          <a:lstStyle/>
          <a:p>
            <a:pPr indent="0" marL="0">
              <a:lnSpc>
                <a:spcPct val="110000"/>
              </a:lnSpc>
              <a:buNone/>
            </a:pPr>
            <a:r>
              <a:rPr lang="en-US" sz="1500" dirty="0">
                <a:solidFill>
                  <a:srgbClr val="1E2761"/>
                </a:solidFill>
              </a:rPr>
              <a:t>Le projet livré ne s'exécutait pas. Dix corrections ont été nécessaires avant toute mesure.</a:t>
            </a:r>
            <a:endParaRPr lang="en-US" sz="1500" dirty="0"/>
          </a:p>
        </p:txBody>
      </p:sp>
      <p:sp>
        <p:nvSpPr>
          <p:cNvPr id="4" name="carte-Du code neutrali"/>
          <p:cNvSpPr/>
          <p:nvPr/>
        </p:nvSpPr>
        <p:spPr>
          <a:xfrm>
            <a:off x="640080" y="1828800"/>
            <a:ext cx="5394960" cy="1691640"/>
          </a:xfrm>
          <a:prstGeom prst="roundRect">
            <a:avLst>
              <a:gd name="adj" fmla="val 3243"/>
            </a:avLst>
          </a:prstGeom>
          <a:solidFill>
            <a:srgbClr val="FBE9DF"/>
          </a:solidFill>
          <a:ln w="12700">
            <a:solidFill>
              <a:srgbClr val="FBE9DF"/>
            </a:solidFill>
            <a:prstDash val="solid"/>
          </a:ln>
        </p:spPr>
      </p:sp>
      <p:sp>
        <p:nvSpPr>
          <p:cNvPr id="5" name="Text 3"/>
          <p:cNvSpPr txBox="1"/>
          <p:nvPr/>
        </p:nvSpPr>
        <p:spPr>
          <a:xfrm>
            <a:off x="914400" y="2066544"/>
            <a:ext cx="4846320" cy="256032"/>
          </a:xfrm>
          <a:prstGeom prst="rect">
            <a:avLst/>
          </a:prstGeom>
          <a:noFill/>
          <a:ln/>
        </p:spPr>
        <p:txBody>
          <a:bodyPr wrap="square" lIns="0" tIns="0" rIns="0" bIns="0" rtlCol="0" anchor="ctr"/>
          <a:lstStyle/>
          <a:p>
            <a:pPr indent="0" marL="0">
              <a:buNone/>
            </a:pPr>
            <a:r>
              <a:rPr lang="en-US" sz="1000" b="1" spc="100" kern="0" dirty="0">
                <a:solidFill>
                  <a:srgbClr val="E07A3F"/>
                </a:solidFill>
              </a:rPr>
              <a:t>BLOQUANT</a:t>
            </a:r>
            <a:endParaRPr lang="en-US" sz="1000" dirty="0"/>
          </a:p>
        </p:txBody>
      </p:sp>
      <p:sp>
        <p:nvSpPr>
          <p:cNvPr id="6" name="Text 4"/>
          <p:cNvSpPr txBox="1"/>
          <p:nvPr/>
        </p:nvSpPr>
        <p:spPr>
          <a:xfrm>
            <a:off x="914400" y="2359152"/>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Du code neutralisé qui s'exécutait</a:t>
            </a:r>
            <a:endParaRPr lang="en-US" sz="1500" dirty="0"/>
          </a:p>
        </p:txBody>
      </p:sp>
      <p:sp>
        <p:nvSpPr>
          <p:cNvPr id="7" name="Text 5"/>
          <p:cNvSpPr txBox="1"/>
          <p:nvPr/>
        </p:nvSpPr>
        <p:spPr>
          <a:xfrm>
            <a:off x="914400" y="2779776"/>
            <a:ext cx="4846320" cy="557784"/>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Deux expressions Jinja placées en commentaire SQL. Le préfixe « -- » commente le SQL, pas le template : l'expression est évaluée malgré tout. L'une empêchait le projet entier de se compiler.</a:t>
            </a:r>
            <a:endParaRPr lang="en-US" sz="1250" dirty="0"/>
          </a:p>
        </p:txBody>
      </p:sp>
      <p:sp>
        <p:nvSpPr>
          <p:cNvPr id="8" name="carte-Des tests qui n'"/>
          <p:cNvSpPr/>
          <p:nvPr/>
        </p:nvSpPr>
        <p:spPr>
          <a:xfrm>
            <a:off x="6217920" y="1828800"/>
            <a:ext cx="5394960" cy="1691640"/>
          </a:xfrm>
          <a:prstGeom prst="roundRect">
            <a:avLst>
              <a:gd name="adj" fmla="val 3243"/>
            </a:avLst>
          </a:prstGeom>
          <a:solidFill>
            <a:srgbClr val="FBE9DF"/>
          </a:solidFill>
          <a:ln w="12700">
            <a:solidFill>
              <a:srgbClr val="FBE9DF"/>
            </a:solidFill>
            <a:prstDash val="solid"/>
          </a:ln>
        </p:spPr>
      </p:sp>
      <p:sp>
        <p:nvSpPr>
          <p:cNvPr id="9" name="Text 7"/>
          <p:cNvSpPr txBox="1"/>
          <p:nvPr/>
        </p:nvSpPr>
        <p:spPr>
          <a:xfrm>
            <a:off x="6492240" y="2066544"/>
            <a:ext cx="4846320" cy="256032"/>
          </a:xfrm>
          <a:prstGeom prst="rect">
            <a:avLst/>
          </a:prstGeom>
          <a:noFill/>
          <a:ln/>
        </p:spPr>
        <p:txBody>
          <a:bodyPr wrap="square" lIns="0" tIns="0" rIns="0" bIns="0" rtlCol="0" anchor="ctr"/>
          <a:lstStyle/>
          <a:p>
            <a:pPr indent="0" marL="0">
              <a:buNone/>
            </a:pPr>
            <a:r>
              <a:rPr lang="en-US" sz="1000" b="1" spc="100" kern="0" dirty="0">
                <a:solidFill>
                  <a:srgbClr val="E07A3F"/>
                </a:solidFill>
              </a:rPr>
              <a:t>SILENCIEUX</a:t>
            </a:r>
            <a:endParaRPr lang="en-US" sz="1000" dirty="0"/>
          </a:p>
        </p:txBody>
      </p:sp>
      <p:sp>
        <p:nvSpPr>
          <p:cNvPr id="10" name="Text 8"/>
          <p:cNvSpPr txBox="1"/>
          <p:nvPr/>
        </p:nvSpPr>
        <p:spPr>
          <a:xfrm>
            <a:off x="6492240" y="2359152"/>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Des tests qui n'avaient jamais tourné</a:t>
            </a:r>
            <a:endParaRPr lang="en-US" sz="1500" dirty="0"/>
          </a:p>
        </p:txBody>
      </p:sp>
      <p:sp>
        <p:nvSpPr>
          <p:cNvPr id="11" name="Text 9"/>
          <p:cNvSpPr txBox="1"/>
          <p:nvPr/>
        </p:nvSpPr>
        <p:spPr>
          <a:xfrm>
            <a:off x="6492240" y="2779776"/>
            <a:ext cx="4846320" cy="557784"/>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Le dossier des tests unitaires n'était pas déclaré comme chemin de modèles, et l'option obligatoire sur modèle incrémental manquait. Zéro test actif, aucune alerte.</a:t>
            </a:r>
            <a:endParaRPr lang="en-US" sz="1250" dirty="0"/>
          </a:p>
        </p:txBody>
      </p:sp>
      <p:sp>
        <p:nvSpPr>
          <p:cNvPr id="12" name="carte-Une conversion d"/>
          <p:cNvSpPr/>
          <p:nvPr/>
        </p:nvSpPr>
        <p:spPr>
          <a:xfrm>
            <a:off x="640080" y="3703320"/>
            <a:ext cx="5394960" cy="1463040"/>
          </a:xfrm>
          <a:prstGeom prst="roundRect">
            <a:avLst>
              <a:gd name="adj" fmla="val 3750"/>
            </a:avLst>
          </a:prstGeom>
          <a:solidFill>
            <a:srgbClr val="FBE9DF"/>
          </a:solidFill>
          <a:ln w="12700">
            <a:solidFill>
              <a:srgbClr val="FBE9DF"/>
            </a:solidFill>
            <a:prstDash val="solid"/>
          </a:ln>
        </p:spPr>
      </p:sp>
      <p:sp>
        <p:nvSpPr>
          <p:cNvPr id="13" name="Text 11"/>
          <p:cNvSpPr txBox="1"/>
          <p:nvPr/>
        </p:nvSpPr>
        <p:spPr>
          <a:xfrm>
            <a:off x="914400" y="3941064"/>
            <a:ext cx="4846320" cy="256032"/>
          </a:xfrm>
          <a:prstGeom prst="rect">
            <a:avLst/>
          </a:prstGeom>
          <a:noFill/>
          <a:ln/>
        </p:spPr>
        <p:txBody>
          <a:bodyPr wrap="square" lIns="0" tIns="0" rIns="0" bIns="0" rtlCol="0" anchor="ctr"/>
          <a:lstStyle/>
          <a:p>
            <a:pPr indent="0" marL="0">
              <a:buNone/>
            </a:pPr>
            <a:r>
              <a:rPr lang="en-US" sz="1000" b="1" spc="100" kern="0" dirty="0">
                <a:solidFill>
                  <a:srgbClr val="E07A3F"/>
                </a:solidFill>
              </a:rPr>
              <a:t>FONCTIONNEL</a:t>
            </a:r>
            <a:endParaRPr lang="en-US" sz="1000" dirty="0"/>
          </a:p>
        </p:txBody>
      </p:sp>
      <p:sp>
        <p:nvSpPr>
          <p:cNvPr id="14" name="Text 12"/>
          <p:cNvSpPr txBox="1"/>
          <p:nvPr/>
        </p:nvSpPr>
        <p:spPr>
          <a:xfrm>
            <a:off x="914400" y="4233672"/>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Une conversion de devise inversée</a:t>
            </a:r>
            <a:endParaRPr lang="en-US" sz="1500" dirty="0"/>
          </a:p>
        </p:txBody>
      </p:sp>
      <p:sp>
        <p:nvSpPr>
          <p:cNvPr id="15" name="Text 13"/>
          <p:cNvSpPr txBox="1"/>
          <p:nvPr/>
        </p:nvSpPr>
        <p:spPr>
          <a:xfrm>
            <a:off x="914400" y="4654296"/>
            <a:ext cx="4846320" cy="329184"/>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Le référentiel cote EUR vers devise : la conversion doit diviser. Elle multipliait.</a:t>
            </a:r>
            <a:endParaRPr lang="en-US" sz="1250" dirty="0"/>
          </a:p>
        </p:txBody>
      </p:sp>
      <p:sp>
        <p:nvSpPr>
          <p:cNvPr id="16" name="carte-Clés de clusteri"/>
          <p:cNvSpPr/>
          <p:nvPr/>
        </p:nvSpPr>
        <p:spPr>
          <a:xfrm>
            <a:off x="6217920" y="3703320"/>
            <a:ext cx="5394960" cy="1463040"/>
          </a:xfrm>
          <a:prstGeom prst="roundRect">
            <a:avLst>
              <a:gd name="adj" fmla="val 3750"/>
            </a:avLst>
          </a:prstGeom>
          <a:solidFill>
            <a:srgbClr val="FBE9DF"/>
          </a:solidFill>
          <a:ln w="12700">
            <a:solidFill>
              <a:srgbClr val="FBE9DF"/>
            </a:solidFill>
            <a:prstDash val="solid"/>
          </a:ln>
        </p:spPr>
      </p:sp>
      <p:sp>
        <p:nvSpPr>
          <p:cNvPr id="17" name="Text 15"/>
          <p:cNvSpPr txBox="1"/>
          <p:nvPr/>
        </p:nvSpPr>
        <p:spPr>
          <a:xfrm>
            <a:off x="6492240" y="3941064"/>
            <a:ext cx="4846320" cy="256032"/>
          </a:xfrm>
          <a:prstGeom prst="rect">
            <a:avLst/>
          </a:prstGeom>
          <a:noFill/>
          <a:ln/>
        </p:spPr>
        <p:txBody>
          <a:bodyPr wrap="square" lIns="0" tIns="0" rIns="0" bIns="0" rtlCol="0" anchor="ctr"/>
          <a:lstStyle/>
          <a:p>
            <a:pPr indent="0" marL="0">
              <a:buNone/>
            </a:pPr>
            <a:r>
              <a:rPr lang="en-US" sz="1000" b="1" spc="100" kern="0" dirty="0">
                <a:solidFill>
                  <a:srgbClr val="E07A3F"/>
                </a:solidFill>
              </a:rPr>
              <a:t>INFRASTRUCTURE</a:t>
            </a:r>
            <a:endParaRPr lang="en-US" sz="1000" dirty="0"/>
          </a:p>
        </p:txBody>
      </p:sp>
      <p:sp>
        <p:nvSpPr>
          <p:cNvPr id="18" name="Text 16"/>
          <p:cNvSpPr txBox="1"/>
          <p:nvPr/>
        </p:nvSpPr>
        <p:spPr>
          <a:xfrm>
            <a:off x="6492240" y="4233672"/>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Clés de clustering incompatibles</a:t>
            </a:r>
            <a:endParaRPr lang="en-US" sz="1500" dirty="0"/>
          </a:p>
        </p:txBody>
      </p:sp>
      <p:sp>
        <p:nvSpPr>
          <p:cNvPr id="19" name="Text 17"/>
          <p:cNvSpPr txBox="1"/>
          <p:nvPr/>
        </p:nvSpPr>
        <p:spPr>
          <a:xfrm>
            <a:off x="6492240" y="4654296"/>
            <a:ext cx="4846320" cy="329184"/>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Une clé contenant une expression est rejetée par le chargement en masse.</a:t>
            </a:r>
            <a:endParaRPr lang="en-US" sz="1250" dirty="0"/>
          </a:p>
        </p:txBody>
      </p:sp>
      <p:sp>
        <p:nvSpPr>
          <p:cNvPr id="20" name="Text 18"/>
          <p:cNvSpPr txBox="1"/>
          <p:nvPr/>
        </p:nvSpPr>
        <p:spPr>
          <a:xfrm>
            <a:off x="640080" y="5349240"/>
            <a:ext cx="10881360" cy="457200"/>
          </a:xfrm>
          <a:prstGeom prst="rect">
            <a:avLst/>
          </a:prstGeom>
          <a:noFill/>
          <a:ln/>
        </p:spPr>
        <p:txBody>
          <a:bodyPr wrap="square" lIns="0" tIns="0" rIns="0" bIns="0" rtlCol="0" anchor="ctr"/>
          <a:lstStyle/>
          <a:p>
            <a:pPr indent="0" marL="0">
              <a:buNone/>
            </a:pPr>
            <a:r>
              <a:rPr lang="en-US" sz="1500" b="1" dirty="0">
                <a:solidFill>
                  <a:srgbClr val="1E2761"/>
                </a:solidFill>
              </a:rPr>
              <a:t>Premier enseignement : un livrable qui compile n'est pas un livrable qui fonctionne.</a:t>
            </a:r>
            <a:endParaRPr lang="en-US" sz="1500" dirty="0"/>
          </a:p>
        </p:txBody>
      </p:sp>
      <p:sp>
        <p:nvSpPr>
          <p:cNvPr id="25" name="Slide Number Placeholder 0"/>
          <p:cNvSpPr>
            <a:spLocks noGrp="1"/>
          </p:cNvSpPr>
          <p:nvPr>
            <p:ph type="sldNum" sz="quarter" idx="4294967295"/>
          </p:nvPr>
        </p:nvSpPr>
        <p:spPr>
          <a:xfrm>
            <a:off x="1124712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rtlCol="0" anchor="ctr"/>
          <a:lstStyle/>
          <a:p>
            <a:pPr algn="l" indent="0" marL="0">
              <a:buNone/>
            </a:pPr>
            <a:r>
              <a:rPr lang="en-US" sz="3000" b="1" dirty="0">
                <a:solidFill>
                  <a:schemeClr val="tx1"/>
                </a:solidFill>
              </a:rPr>
              <a:t>La démarche</a:t>
            </a:r>
            <a:endParaRPr lang="en-US" sz="3000" dirty="0"/>
          </a:p>
        </p:txBody>
      </p:sp>
      <p:sp>
        <p:nvSpPr>
          <p:cNvPr id="3" name="Text 1"/>
          <p:cNvSpPr txBox="1"/>
          <p:nvPr/>
        </p:nvSpPr>
        <p:spPr>
          <a:xfrm>
            <a:off x="640080" y="1207008"/>
            <a:ext cx="10881360" cy="502920"/>
          </a:xfrm>
          <a:prstGeom prst="rect">
            <a:avLst/>
          </a:prstGeom>
          <a:noFill/>
          <a:ln/>
        </p:spPr>
        <p:txBody>
          <a:bodyPr wrap="square" lIns="0" tIns="0" rIns="0" bIns="0" rtlCol="0" anchor="ctr"/>
          <a:lstStyle/>
          <a:p>
            <a:pPr indent="0" marL="0">
              <a:lnSpc>
                <a:spcPct val="110000"/>
              </a:lnSpc>
              <a:buNone/>
            </a:pPr>
            <a:r>
              <a:rPr lang="en-US" sz="1500" dirty="0">
                <a:solidFill>
                  <a:srgbClr val="1E2761"/>
                </a:solidFill>
              </a:rPr>
              <a:t>Six sprints, une méthode constante : établir une référence, formuler une hypothèse, mesurer, puis décider.</a:t>
            </a:r>
            <a:endParaRPr lang="en-US" sz="1500" dirty="0"/>
          </a:p>
        </p:txBody>
      </p:sp>
      <p:sp>
        <p:nvSpPr>
          <p:cNvPr id="4" name="etape-1"/>
          <p:cNvSpPr/>
          <p:nvPr/>
        </p:nvSpPr>
        <p:spPr>
          <a:xfrm>
            <a:off x="1188720" y="1920240"/>
            <a:ext cx="658368" cy="658368"/>
          </a:xfrm>
          <a:prstGeom prst="ellipse">
            <a:avLst/>
          </a:prstGeom>
          <a:solidFill>
            <a:srgbClr val="2E8B6B"/>
          </a:solidFill>
          <a:ln w="12700">
            <a:solidFill>
              <a:srgbClr val="2E8B6B"/>
            </a:solidFill>
            <a:prstDash val="solid"/>
          </a:ln>
        </p:spPr>
      </p:sp>
      <p:sp>
        <p:nvSpPr>
          <p:cNvPr id="5" name="Text 3"/>
          <p:cNvSpPr txBox="1"/>
          <p:nvPr/>
        </p:nvSpPr>
        <p:spPr>
          <a:xfrm>
            <a:off x="1188720" y="192024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594360" y="2697480"/>
            <a:ext cx="1828800" cy="320040"/>
          </a:xfrm>
          <a:prstGeom prst="rect">
            <a:avLst/>
          </a:prstGeom>
          <a:noFill/>
          <a:ln/>
        </p:spPr>
        <p:txBody>
          <a:bodyPr wrap="square" lIns="0" tIns="0" rIns="0" bIns="0" rtlCol="0" anchor="ctr"/>
          <a:lstStyle/>
          <a:p>
            <a:pPr algn="ctr" indent="0" marL="0">
              <a:buNone/>
            </a:pPr>
            <a:r>
              <a:rPr lang="en-US" sz="1400" b="1" dirty="0">
                <a:solidFill>
                  <a:schemeClr val="tx1"/>
                </a:solidFill>
              </a:rPr>
              <a:t>Provisionner</a:t>
            </a:r>
            <a:endParaRPr lang="en-US" sz="1400" dirty="0"/>
          </a:p>
        </p:txBody>
      </p:sp>
      <p:sp>
        <p:nvSpPr>
          <p:cNvPr id="7" name="Text 5"/>
          <p:cNvSpPr txBox="1"/>
          <p:nvPr/>
        </p:nvSpPr>
        <p:spPr>
          <a:xfrm>
            <a:off x="594360" y="3017520"/>
            <a:ext cx="1828800" cy="731520"/>
          </a:xfrm>
          <a:prstGeom prst="rect">
            <a:avLst/>
          </a:prstGeom>
          <a:noFill/>
          <a:ln/>
        </p:spPr>
        <p:txBody>
          <a:bodyPr wrap="square" lIns="0" tIns="0" rIns="0" bIns="0" rtlCol="0" anchor="ctr"/>
          <a:lstStyle/>
          <a:p>
            <a:pPr algn="ctr" indent="0" marL="0">
              <a:buNone/>
            </a:pPr>
            <a:r>
              <a:rPr lang="en-US" sz="1100" dirty="0">
                <a:solidFill>
                  <a:srgbClr val="8A94A6"/>
                </a:solidFill>
              </a:rPr>
              <a:t>Infrastructure et chargement</a:t>
            </a:r>
            <a:endParaRPr lang="en-US" sz="1100" dirty="0"/>
          </a:p>
        </p:txBody>
      </p:sp>
      <p:sp>
        <p:nvSpPr>
          <p:cNvPr id="8" name="etape-2"/>
          <p:cNvSpPr/>
          <p:nvPr/>
        </p:nvSpPr>
        <p:spPr>
          <a:xfrm>
            <a:off x="3081528" y="1920240"/>
            <a:ext cx="658368" cy="658368"/>
          </a:xfrm>
          <a:prstGeom prst="ellipse">
            <a:avLst/>
          </a:prstGeom>
          <a:solidFill>
            <a:srgbClr val="2E8B6B"/>
          </a:solidFill>
          <a:ln w="12700">
            <a:solidFill>
              <a:srgbClr val="2E8B6B"/>
            </a:solidFill>
            <a:prstDash val="solid"/>
          </a:ln>
        </p:spPr>
      </p:sp>
      <p:sp>
        <p:nvSpPr>
          <p:cNvPr id="9" name="Text 7"/>
          <p:cNvSpPr txBox="1"/>
          <p:nvPr/>
        </p:nvSpPr>
        <p:spPr>
          <a:xfrm>
            <a:off x="3081528" y="192024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2487168" y="2697480"/>
            <a:ext cx="1828800" cy="320040"/>
          </a:xfrm>
          <a:prstGeom prst="rect">
            <a:avLst/>
          </a:prstGeom>
          <a:noFill/>
          <a:ln/>
        </p:spPr>
        <p:txBody>
          <a:bodyPr wrap="square" lIns="0" tIns="0" rIns="0" bIns="0" rtlCol="0" anchor="ctr"/>
          <a:lstStyle/>
          <a:p>
            <a:pPr algn="ctr" indent="0" marL="0">
              <a:buNone/>
            </a:pPr>
            <a:r>
              <a:rPr lang="en-US" sz="1400" b="1" dirty="0">
                <a:solidFill>
                  <a:schemeClr val="tx1"/>
                </a:solidFill>
              </a:rPr>
              <a:t>Modéliser</a:t>
            </a:r>
            <a:endParaRPr lang="en-US" sz="1400" dirty="0"/>
          </a:p>
        </p:txBody>
      </p:sp>
      <p:sp>
        <p:nvSpPr>
          <p:cNvPr id="11" name="Text 9"/>
          <p:cNvSpPr txBox="1"/>
          <p:nvPr/>
        </p:nvSpPr>
        <p:spPr>
          <a:xfrm>
            <a:off x="2487168" y="3017520"/>
            <a:ext cx="1828800" cy="731520"/>
          </a:xfrm>
          <a:prstGeom prst="rect">
            <a:avLst/>
          </a:prstGeom>
          <a:noFill/>
          <a:ln/>
        </p:spPr>
        <p:txBody>
          <a:bodyPr wrap="square" lIns="0" tIns="0" rIns="0" bIns="0" rtlCol="0" anchor="ctr"/>
          <a:lstStyle/>
          <a:p>
            <a:pPr algn="ctr" indent="0" marL="0">
              <a:buNone/>
            </a:pPr>
            <a:r>
              <a:rPr lang="en-US" sz="1100" dirty="0">
                <a:solidFill>
                  <a:srgbClr val="8A94A6"/>
                </a:solidFill>
              </a:rPr>
              <a:t>Dimensions, faits, bridge</a:t>
            </a:r>
            <a:endParaRPr lang="en-US" sz="1100" dirty="0"/>
          </a:p>
        </p:txBody>
      </p:sp>
      <p:sp>
        <p:nvSpPr>
          <p:cNvPr id="12" name="etape-3"/>
          <p:cNvSpPr/>
          <p:nvPr/>
        </p:nvSpPr>
        <p:spPr>
          <a:xfrm>
            <a:off x="4974336" y="1920240"/>
            <a:ext cx="658368" cy="658368"/>
          </a:xfrm>
          <a:prstGeom prst="ellipse">
            <a:avLst/>
          </a:prstGeom>
          <a:solidFill>
            <a:srgbClr val="4A7FD1"/>
          </a:solidFill>
          <a:ln w="12700">
            <a:solidFill>
              <a:srgbClr val="4A7FD1"/>
            </a:solidFill>
            <a:prstDash val="solid"/>
          </a:ln>
        </p:spPr>
      </p:sp>
      <p:sp>
        <p:nvSpPr>
          <p:cNvPr id="13" name="Text 11"/>
          <p:cNvSpPr txBox="1"/>
          <p:nvPr/>
        </p:nvSpPr>
        <p:spPr>
          <a:xfrm>
            <a:off x="4974336" y="192024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4379976" y="2697480"/>
            <a:ext cx="1828800" cy="320040"/>
          </a:xfrm>
          <a:prstGeom prst="rect">
            <a:avLst/>
          </a:prstGeom>
          <a:noFill/>
          <a:ln/>
        </p:spPr>
        <p:txBody>
          <a:bodyPr wrap="square" lIns="0" tIns="0" rIns="0" bIns="0" rtlCol="0" anchor="ctr"/>
          <a:lstStyle/>
          <a:p>
            <a:pPr algn="ctr" indent="0" marL="0">
              <a:buNone/>
            </a:pPr>
            <a:r>
              <a:rPr lang="en-US" sz="1400" b="1" dirty="0">
                <a:solidFill>
                  <a:schemeClr val="tx1"/>
                </a:solidFill>
              </a:rPr>
              <a:t>Accélérer</a:t>
            </a:r>
            <a:endParaRPr lang="en-US" sz="1400" dirty="0"/>
          </a:p>
        </p:txBody>
      </p:sp>
      <p:sp>
        <p:nvSpPr>
          <p:cNvPr id="15" name="Text 13"/>
          <p:cNvSpPr txBox="1"/>
          <p:nvPr/>
        </p:nvSpPr>
        <p:spPr>
          <a:xfrm>
            <a:off x="4379976" y="3017520"/>
            <a:ext cx="1828800" cy="731520"/>
          </a:xfrm>
          <a:prstGeom prst="rect">
            <a:avLst/>
          </a:prstGeom>
          <a:noFill/>
          <a:ln/>
        </p:spPr>
        <p:txBody>
          <a:bodyPr wrap="square" lIns="0" tIns="0" rIns="0" bIns="0" rtlCol="0" anchor="ctr"/>
          <a:lstStyle/>
          <a:p>
            <a:pPr algn="ctr" indent="0" marL="0">
              <a:buNone/>
            </a:pPr>
            <a:r>
              <a:rPr lang="en-US" sz="1100" dirty="0">
                <a:solidFill>
                  <a:srgbClr val="8A94A6"/>
                </a:solidFill>
              </a:rPr>
              <a:t>Incrémental et performance</a:t>
            </a:r>
            <a:endParaRPr lang="en-US" sz="1100" dirty="0"/>
          </a:p>
        </p:txBody>
      </p:sp>
      <p:sp>
        <p:nvSpPr>
          <p:cNvPr id="16" name="etape-4"/>
          <p:cNvSpPr/>
          <p:nvPr/>
        </p:nvSpPr>
        <p:spPr>
          <a:xfrm>
            <a:off x="6867144" y="1920240"/>
            <a:ext cx="658368" cy="658368"/>
          </a:xfrm>
          <a:prstGeom prst="ellipse">
            <a:avLst/>
          </a:prstGeom>
          <a:solidFill>
            <a:srgbClr val="2E8B6B"/>
          </a:solidFill>
          <a:ln w="12700">
            <a:solidFill>
              <a:srgbClr val="2E8B6B"/>
            </a:solidFill>
            <a:prstDash val="solid"/>
          </a:ln>
        </p:spPr>
      </p:sp>
      <p:sp>
        <p:nvSpPr>
          <p:cNvPr id="17" name="Text 15"/>
          <p:cNvSpPr txBox="1"/>
          <p:nvPr/>
        </p:nvSpPr>
        <p:spPr>
          <a:xfrm>
            <a:off x="6867144" y="192024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6272784" y="2697480"/>
            <a:ext cx="1828800" cy="320040"/>
          </a:xfrm>
          <a:prstGeom prst="rect">
            <a:avLst/>
          </a:prstGeom>
          <a:noFill/>
          <a:ln/>
        </p:spPr>
        <p:txBody>
          <a:bodyPr wrap="square" lIns="0" tIns="0" rIns="0" bIns="0" rtlCol="0" anchor="ctr"/>
          <a:lstStyle/>
          <a:p>
            <a:pPr algn="ctr" indent="0" marL="0">
              <a:buNone/>
            </a:pPr>
            <a:r>
              <a:rPr lang="en-US" sz="1400" b="1" dirty="0">
                <a:solidFill>
                  <a:schemeClr val="tx1"/>
                </a:solidFill>
              </a:rPr>
              <a:t>Historiser</a:t>
            </a:r>
            <a:endParaRPr lang="en-US" sz="1400" dirty="0"/>
          </a:p>
        </p:txBody>
      </p:sp>
      <p:sp>
        <p:nvSpPr>
          <p:cNvPr id="19" name="Text 17"/>
          <p:cNvSpPr txBox="1"/>
          <p:nvPr/>
        </p:nvSpPr>
        <p:spPr>
          <a:xfrm>
            <a:off x="6272784" y="3017520"/>
            <a:ext cx="1828800" cy="731520"/>
          </a:xfrm>
          <a:prstGeom prst="rect">
            <a:avLst/>
          </a:prstGeom>
          <a:noFill/>
          <a:ln/>
        </p:spPr>
        <p:txBody>
          <a:bodyPr wrap="square" lIns="0" tIns="0" rIns="0" bIns="0" rtlCol="0" anchor="ctr"/>
          <a:lstStyle/>
          <a:p>
            <a:pPr algn="ctr" indent="0" marL="0">
              <a:buNone/>
            </a:pPr>
            <a:r>
              <a:rPr lang="en-US" sz="1100" dirty="0">
                <a:solidFill>
                  <a:srgbClr val="8A94A6"/>
                </a:solidFill>
              </a:rPr>
              <a:t>SCD2 et multi-devises</a:t>
            </a:r>
            <a:endParaRPr lang="en-US" sz="1100" dirty="0"/>
          </a:p>
        </p:txBody>
      </p:sp>
      <p:sp>
        <p:nvSpPr>
          <p:cNvPr id="20" name="etape-5"/>
          <p:cNvSpPr/>
          <p:nvPr/>
        </p:nvSpPr>
        <p:spPr>
          <a:xfrm>
            <a:off x="8759952" y="1920240"/>
            <a:ext cx="658368" cy="658368"/>
          </a:xfrm>
          <a:prstGeom prst="ellipse">
            <a:avLst/>
          </a:prstGeom>
          <a:solidFill>
            <a:srgbClr val="8A94A6"/>
          </a:solidFill>
          <a:ln w="12700">
            <a:solidFill>
              <a:srgbClr val="8A94A6"/>
            </a:solidFill>
            <a:prstDash val="solid"/>
          </a:ln>
        </p:spPr>
      </p:sp>
      <p:sp>
        <p:nvSpPr>
          <p:cNvPr id="21" name="Text 19"/>
          <p:cNvSpPr txBox="1"/>
          <p:nvPr/>
        </p:nvSpPr>
        <p:spPr>
          <a:xfrm>
            <a:off x="8759952" y="192024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8165592" y="2697480"/>
            <a:ext cx="1828800" cy="320040"/>
          </a:xfrm>
          <a:prstGeom prst="rect">
            <a:avLst/>
          </a:prstGeom>
          <a:noFill/>
          <a:ln/>
        </p:spPr>
        <p:txBody>
          <a:bodyPr wrap="square" lIns="0" tIns="0" rIns="0" bIns="0" rtlCol="0" anchor="ctr"/>
          <a:lstStyle/>
          <a:p>
            <a:pPr algn="ctr" indent="0" marL="0">
              <a:buNone/>
            </a:pPr>
            <a:r>
              <a:rPr lang="en-US" sz="1400" b="1" dirty="0">
                <a:solidFill>
                  <a:schemeClr val="tx1"/>
                </a:solidFill>
              </a:rPr>
              <a:t>Industrialiser</a:t>
            </a:r>
            <a:endParaRPr lang="en-US" sz="1400" dirty="0"/>
          </a:p>
        </p:txBody>
      </p:sp>
      <p:sp>
        <p:nvSpPr>
          <p:cNvPr id="23" name="Text 21"/>
          <p:cNvSpPr txBox="1"/>
          <p:nvPr/>
        </p:nvSpPr>
        <p:spPr>
          <a:xfrm>
            <a:off x="8165592" y="3017520"/>
            <a:ext cx="1828800" cy="731520"/>
          </a:xfrm>
          <a:prstGeom prst="rect">
            <a:avLst/>
          </a:prstGeom>
          <a:noFill/>
          <a:ln/>
        </p:spPr>
        <p:txBody>
          <a:bodyPr wrap="square" lIns="0" tIns="0" rIns="0" bIns="0" rtlCol="0" anchor="ctr"/>
          <a:lstStyle/>
          <a:p>
            <a:pPr algn="ctr" indent="0" marL="0">
              <a:buNone/>
            </a:pPr>
            <a:r>
              <a:rPr lang="en-US" sz="1100" dirty="0">
                <a:solidFill>
                  <a:srgbClr val="8A94A6"/>
                </a:solidFill>
              </a:rPr>
              <a:t>Non réalisé</a:t>
            </a:r>
            <a:endParaRPr lang="en-US" sz="1100" dirty="0"/>
          </a:p>
        </p:txBody>
      </p:sp>
      <p:sp>
        <p:nvSpPr>
          <p:cNvPr id="24" name="etape-6"/>
          <p:cNvSpPr/>
          <p:nvPr/>
        </p:nvSpPr>
        <p:spPr>
          <a:xfrm>
            <a:off x="10652760" y="1920240"/>
            <a:ext cx="658368" cy="658368"/>
          </a:xfrm>
          <a:prstGeom prst="ellipse">
            <a:avLst/>
          </a:prstGeom>
          <a:solidFill>
            <a:srgbClr val="2E8B6B"/>
          </a:solidFill>
          <a:ln w="12700">
            <a:solidFill>
              <a:srgbClr val="2E8B6B"/>
            </a:solidFill>
            <a:prstDash val="solid"/>
          </a:ln>
        </p:spPr>
      </p:sp>
      <p:sp>
        <p:nvSpPr>
          <p:cNvPr id="25" name="Text 23"/>
          <p:cNvSpPr txBox="1"/>
          <p:nvPr/>
        </p:nvSpPr>
        <p:spPr>
          <a:xfrm>
            <a:off x="10652760" y="192024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26" name="Text 24"/>
          <p:cNvSpPr txBox="1"/>
          <p:nvPr/>
        </p:nvSpPr>
        <p:spPr>
          <a:xfrm>
            <a:off x="10058400" y="2697480"/>
            <a:ext cx="1828800" cy="320040"/>
          </a:xfrm>
          <a:prstGeom prst="rect">
            <a:avLst/>
          </a:prstGeom>
          <a:noFill/>
          <a:ln/>
        </p:spPr>
        <p:txBody>
          <a:bodyPr wrap="square" lIns="0" tIns="0" rIns="0" bIns="0" rtlCol="0" anchor="ctr"/>
          <a:lstStyle/>
          <a:p>
            <a:pPr algn="ctr" indent="0" marL="0">
              <a:buNone/>
            </a:pPr>
            <a:r>
              <a:rPr lang="en-US" sz="1400" b="1" dirty="0">
                <a:solidFill>
                  <a:schemeClr val="tx1"/>
                </a:solidFill>
              </a:rPr>
              <a:t>Superviser</a:t>
            </a:r>
            <a:endParaRPr lang="en-US" sz="1400" dirty="0"/>
          </a:p>
        </p:txBody>
      </p:sp>
      <p:sp>
        <p:nvSpPr>
          <p:cNvPr id="27" name="Text 25"/>
          <p:cNvSpPr txBox="1"/>
          <p:nvPr/>
        </p:nvSpPr>
        <p:spPr>
          <a:xfrm>
            <a:off x="10058400" y="3017520"/>
            <a:ext cx="1828800" cy="731520"/>
          </a:xfrm>
          <a:prstGeom prst="rect">
            <a:avLst/>
          </a:prstGeom>
          <a:noFill/>
          <a:ln/>
        </p:spPr>
        <p:txBody>
          <a:bodyPr wrap="square" lIns="0" tIns="0" rIns="0" bIns="0" rtlCol="0" anchor="ctr"/>
          <a:lstStyle/>
          <a:p>
            <a:pPr algn="ctr" indent="0" marL="0">
              <a:buNone/>
            </a:pPr>
            <a:r>
              <a:rPr lang="en-US" sz="1100" dirty="0">
                <a:solidFill>
                  <a:srgbClr val="8A94A6"/>
                </a:solidFill>
              </a:rPr>
              <a:t>Contrats et observabilité</a:t>
            </a:r>
            <a:endParaRPr lang="en-US" sz="1100" dirty="0"/>
          </a:p>
        </p:txBody>
      </p:sp>
      <p:sp>
        <p:nvSpPr>
          <p:cNvPr id="28" name="carte-Toute hypothèse "/>
          <p:cNvSpPr/>
          <p:nvPr/>
        </p:nvSpPr>
        <p:spPr>
          <a:xfrm>
            <a:off x="640080" y="3977640"/>
            <a:ext cx="5394960" cy="1371600"/>
          </a:xfrm>
          <a:prstGeom prst="roundRect">
            <a:avLst>
              <a:gd name="adj" fmla="val 4000"/>
            </a:avLst>
          </a:prstGeom>
          <a:solidFill>
            <a:srgbClr val="EEF2FA"/>
          </a:solidFill>
          <a:ln w="12700">
            <a:solidFill>
              <a:srgbClr val="EEF2FA"/>
            </a:solidFill>
            <a:prstDash val="solid"/>
          </a:ln>
        </p:spPr>
      </p:sp>
      <p:sp>
        <p:nvSpPr>
          <p:cNvPr id="29" name="Text 27"/>
          <p:cNvSpPr txBox="1"/>
          <p:nvPr/>
        </p:nvSpPr>
        <p:spPr>
          <a:xfrm>
            <a:off x="914400" y="4215384"/>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Toute hypothèse est mesurée</a:t>
            </a:r>
            <a:endParaRPr lang="en-US" sz="1500" dirty="0"/>
          </a:p>
        </p:txBody>
      </p:sp>
      <p:sp>
        <p:nvSpPr>
          <p:cNvPr id="30" name="Text 28"/>
          <p:cNvSpPr txBox="1"/>
          <p:nvPr/>
        </p:nvSpPr>
        <p:spPr>
          <a:xfrm>
            <a:off x="914400" y="4636008"/>
            <a:ext cx="4846320" cy="53035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Plusieurs optimisations attendues se sont révélées sans effet. La mesure a tranché, pas l'intuition.</a:t>
            </a:r>
            <a:endParaRPr lang="en-US" sz="1250" dirty="0"/>
          </a:p>
        </p:txBody>
      </p:sp>
      <p:sp>
        <p:nvSpPr>
          <p:cNvPr id="31" name="carte-Toute décision e"/>
          <p:cNvSpPr/>
          <p:nvPr/>
        </p:nvSpPr>
        <p:spPr>
          <a:xfrm>
            <a:off x="6217920" y="3977640"/>
            <a:ext cx="5394960" cy="1371600"/>
          </a:xfrm>
          <a:prstGeom prst="roundRect">
            <a:avLst>
              <a:gd name="adj" fmla="val 4000"/>
            </a:avLst>
          </a:prstGeom>
          <a:solidFill>
            <a:srgbClr val="EEF2FA"/>
          </a:solidFill>
          <a:ln w="12700">
            <a:solidFill>
              <a:srgbClr val="EEF2FA"/>
            </a:solidFill>
            <a:prstDash val="solid"/>
          </a:ln>
        </p:spPr>
      </p:sp>
      <p:sp>
        <p:nvSpPr>
          <p:cNvPr id="32" name="Text 30"/>
          <p:cNvSpPr txBox="1"/>
          <p:nvPr/>
        </p:nvSpPr>
        <p:spPr>
          <a:xfrm>
            <a:off x="6492240" y="4215384"/>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Toute décision est documentée</a:t>
            </a:r>
            <a:endParaRPr lang="en-US" sz="1500" dirty="0"/>
          </a:p>
        </p:txBody>
      </p:sp>
      <p:sp>
        <p:nvSpPr>
          <p:cNvPr id="33" name="Text 31"/>
          <p:cNvSpPr txBox="1"/>
          <p:nvPr/>
        </p:nvSpPr>
        <p:spPr>
          <a:xfrm>
            <a:off x="6492240" y="4636008"/>
            <a:ext cx="4846320" cy="53035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Quatre documents accompagnent le code : performances, architecture, contrats, journal de mission.</a:t>
            </a:r>
            <a:endParaRPr lang="en-US" sz="1250" dirty="0"/>
          </a:p>
        </p:txBody>
      </p:sp>
      <p:sp>
        <p:nvSpPr>
          <p:cNvPr id="25" name="Slide Number Placeholder 0"/>
          <p:cNvSpPr>
            <a:spLocks noGrp="1"/>
          </p:cNvSpPr>
          <p:nvPr>
            <p:ph type="sldNum" sz="quarter" idx="4294967295"/>
          </p:nvPr>
        </p:nvSpPr>
        <p:spPr>
          <a:xfrm>
            <a:off x="1124712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rtlCol="0" anchor="ctr"/>
          <a:lstStyle/>
          <a:p>
            <a:pPr algn="l" indent="0" marL="0">
              <a:buNone/>
            </a:pPr>
            <a:r>
              <a:rPr lang="en-US" sz="3000" b="1" dirty="0">
                <a:solidFill>
                  <a:schemeClr val="tx1"/>
                </a:solidFill>
              </a:rPr>
              <a:t>Un traitement incrémental qui ne l'était pas</a:t>
            </a:r>
            <a:endParaRPr lang="en-US" sz="3000" dirty="0"/>
          </a:p>
        </p:txBody>
      </p:sp>
      <p:sp>
        <p:nvSpPr>
          <p:cNvPr id="3" name="Text 1"/>
          <p:cNvSpPr txBox="1"/>
          <p:nvPr/>
        </p:nvSpPr>
        <p:spPr>
          <a:xfrm>
            <a:off x="640080" y="1207008"/>
            <a:ext cx="10881360" cy="502920"/>
          </a:xfrm>
          <a:prstGeom prst="rect">
            <a:avLst/>
          </a:prstGeom>
          <a:noFill/>
          <a:ln/>
        </p:spPr>
        <p:txBody>
          <a:bodyPr wrap="square" lIns="0" tIns="0" rIns="0" bIns="0" rtlCol="0" anchor="ctr"/>
          <a:lstStyle/>
          <a:p>
            <a:pPr indent="0" marL="0">
              <a:lnSpc>
                <a:spcPct val="110000"/>
              </a:lnSpc>
              <a:buNone/>
            </a:pPr>
            <a:r>
              <a:rPr lang="en-US" sz="1500" dirty="0">
                <a:solidFill>
                  <a:srgbClr val="1E2761"/>
                </a:solidFill>
              </a:rPr>
              <a:t>Les modèles étaient déclarés incrémentaux. Ils reprenaient en réalité l'intégralité de l'historique à chaque exécution.</a:t>
            </a:r>
            <a:endParaRPr lang="en-US" sz="1500" dirty="0"/>
          </a:p>
        </p:txBody>
      </p:sp>
      <p:sp>
        <p:nvSpPr>
          <p:cNvPr id="4" name="avant"/>
          <p:cNvSpPr/>
          <p:nvPr/>
        </p:nvSpPr>
        <p:spPr>
          <a:xfrm>
            <a:off x="640080" y="1920240"/>
            <a:ext cx="5120640" cy="1783080"/>
          </a:xfrm>
          <a:prstGeom prst="roundRect">
            <a:avLst>
              <a:gd name="adj" fmla="val 3077"/>
            </a:avLst>
          </a:prstGeom>
          <a:solidFill>
            <a:srgbClr val="FBE9DF"/>
          </a:solidFill>
          <a:ln w="12700">
            <a:solidFill>
              <a:srgbClr val="FBE9DF"/>
            </a:solidFill>
            <a:prstDash val="solid"/>
          </a:ln>
        </p:spPr>
      </p:sp>
      <p:sp>
        <p:nvSpPr>
          <p:cNvPr id="5" name="Text 3"/>
          <p:cNvSpPr txBox="1"/>
          <p:nvPr/>
        </p:nvSpPr>
        <p:spPr>
          <a:xfrm>
            <a:off x="960120" y="2103120"/>
            <a:ext cx="2743200" cy="274320"/>
          </a:xfrm>
          <a:prstGeom prst="rect">
            <a:avLst/>
          </a:prstGeom>
          <a:noFill/>
          <a:ln/>
        </p:spPr>
        <p:txBody>
          <a:bodyPr wrap="square" lIns="0" tIns="0" rIns="0" bIns="0" rtlCol="0" anchor="ctr"/>
          <a:lstStyle/>
          <a:p>
            <a:pPr indent="0" marL="0">
              <a:buNone/>
            </a:pPr>
            <a:r>
              <a:rPr lang="en-US" sz="1000" b="1" spc="100" kern="0" dirty="0">
                <a:solidFill>
                  <a:srgbClr val="E07A3F"/>
                </a:solidFill>
              </a:rPr>
              <a:t>AVANT</a:t>
            </a:r>
            <a:endParaRPr lang="en-US" sz="1000" dirty="0"/>
          </a:p>
        </p:txBody>
      </p:sp>
      <p:sp>
        <p:nvSpPr>
          <p:cNvPr id="6" name="Text 4"/>
          <p:cNvSpPr txBox="1"/>
          <p:nvPr/>
        </p:nvSpPr>
        <p:spPr>
          <a:xfrm>
            <a:off x="960120" y="2395728"/>
            <a:ext cx="4572000" cy="731520"/>
          </a:xfrm>
          <a:prstGeom prst="rect">
            <a:avLst/>
          </a:prstGeom>
          <a:noFill/>
          <a:ln/>
        </p:spPr>
        <p:txBody>
          <a:bodyPr wrap="square" lIns="0" tIns="0" rIns="0" bIns="0" rtlCol="0" anchor="ctr"/>
          <a:lstStyle/>
          <a:p>
            <a:pPr indent="0" marL="0">
              <a:buNone/>
            </a:pPr>
            <a:r>
              <a:rPr lang="en-US" sz="3800" b="1" dirty="0">
                <a:solidFill>
                  <a:srgbClr val="E07A3F"/>
                </a:solidFill>
              </a:rPr>
              <a:t>1 000 000</a:t>
            </a:r>
            <a:endParaRPr lang="en-US" sz="3800" dirty="0"/>
          </a:p>
        </p:txBody>
      </p:sp>
      <p:sp>
        <p:nvSpPr>
          <p:cNvPr id="7" name="Text 5"/>
          <p:cNvSpPr txBox="1"/>
          <p:nvPr/>
        </p:nvSpPr>
        <p:spPr>
          <a:xfrm>
            <a:off x="960120" y="3127248"/>
            <a:ext cx="4572000" cy="365760"/>
          </a:xfrm>
          <a:prstGeom prst="rect">
            <a:avLst/>
          </a:prstGeom>
          <a:noFill/>
          <a:ln/>
        </p:spPr>
        <p:txBody>
          <a:bodyPr wrap="square" lIns="0" tIns="0" rIns="0" bIns="0" rtlCol="0" anchor="ctr"/>
          <a:lstStyle/>
          <a:p>
            <a:pPr indent="0" marL="0">
              <a:buNone/>
            </a:pPr>
            <a:r>
              <a:rPr lang="en-US" sz="1300" dirty="0">
                <a:solidFill>
                  <a:srgbClr val="1E2761"/>
                </a:solidFill>
              </a:rPr>
              <a:t>lignes relues à chaque exécution</a:t>
            </a:r>
            <a:endParaRPr lang="en-US" sz="1300" dirty="0"/>
          </a:p>
        </p:txBody>
      </p:sp>
      <p:sp>
        <p:nvSpPr>
          <p:cNvPr id="8" name="apres"/>
          <p:cNvSpPr/>
          <p:nvPr/>
        </p:nvSpPr>
        <p:spPr>
          <a:xfrm>
            <a:off x="6492240" y="1920240"/>
            <a:ext cx="5120640" cy="1783080"/>
          </a:xfrm>
          <a:prstGeom prst="roundRect">
            <a:avLst>
              <a:gd name="adj" fmla="val 3077"/>
            </a:avLst>
          </a:prstGeom>
          <a:solidFill>
            <a:srgbClr val="E3F2EC"/>
          </a:solidFill>
          <a:ln w="12700">
            <a:solidFill>
              <a:srgbClr val="E3F2EC"/>
            </a:solidFill>
            <a:prstDash val="solid"/>
          </a:ln>
        </p:spPr>
      </p:sp>
      <p:sp>
        <p:nvSpPr>
          <p:cNvPr id="9" name="Text 7"/>
          <p:cNvSpPr txBox="1"/>
          <p:nvPr/>
        </p:nvSpPr>
        <p:spPr>
          <a:xfrm>
            <a:off x="6812280" y="2103120"/>
            <a:ext cx="2743200" cy="274320"/>
          </a:xfrm>
          <a:prstGeom prst="rect">
            <a:avLst/>
          </a:prstGeom>
          <a:noFill/>
          <a:ln/>
        </p:spPr>
        <p:txBody>
          <a:bodyPr wrap="square" lIns="0" tIns="0" rIns="0" bIns="0" rtlCol="0" anchor="ctr"/>
          <a:lstStyle/>
          <a:p>
            <a:pPr indent="0" marL="0">
              <a:buNone/>
            </a:pPr>
            <a:r>
              <a:rPr lang="en-US" sz="1000" b="1" spc="100" kern="0" dirty="0">
                <a:solidFill>
                  <a:srgbClr val="2E8B6B"/>
                </a:solidFill>
              </a:rPr>
              <a:t>APRÈS</a:t>
            </a:r>
            <a:endParaRPr lang="en-US" sz="1000" dirty="0"/>
          </a:p>
        </p:txBody>
      </p:sp>
      <p:sp>
        <p:nvSpPr>
          <p:cNvPr id="10" name="Text 8"/>
          <p:cNvSpPr txBox="1"/>
          <p:nvPr/>
        </p:nvSpPr>
        <p:spPr>
          <a:xfrm>
            <a:off x="6812280" y="2395728"/>
            <a:ext cx="4572000" cy="731520"/>
          </a:xfrm>
          <a:prstGeom prst="rect">
            <a:avLst/>
          </a:prstGeom>
          <a:noFill/>
          <a:ln/>
        </p:spPr>
        <p:txBody>
          <a:bodyPr wrap="square" lIns="0" tIns="0" rIns="0" bIns="0" rtlCol="0" anchor="ctr"/>
          <a:lstStyle/>
          <a:p>
            <a:pPr indent="0" marL="0">
              <a:buNone/>
            </a:pPr>
            <a:r>
              <a:rPr lang="en-US" sz="3800" b="1" dirty="0">
                <a:solidFill>
                  <a:srgbClr val="2E8B6B"/>
                </a:solidFill>
              </a:rPr>
              <a:t>30</a:t>
            </a:r>
            <a:endParaRPr lang="en-US" sz="3800" dirty="0"/>
          </a:p>
        </p:txBody>
      </p:sp>
      <p:sp>
        <p:nvSpPr>
          <p:cNvPr id="11" name="Text 9"/>
          <p:cNvSpPr txBox="1"/>
          <p:nvPr/>
        </p:nvSpPr>
        <p:spPr>
          <a:xfrm>
            <a:off x="6812280" y="3127248"/>
            <a:ext cx="4572000" cy="365760"/>
          </a:xfrm>
          <a:prstGeom prst="rect">
            <a:avLst/>
          </a:prstGeom>
          <a:noFill/>
          <a:ln/>
        </p:spPr>
        <p:txBody>
          <a:bodyPr wrap="square" lIns="0" tIns="0" rIns="0" bIns="0" rtlCol="0" anchor="ctr"/>
          <a:lstStyle/>
          <a:p>
            <a:pPr indent="0" marL="0">
              <a:buNone/>
            </a:pPr>
            <a:r>
              <a:rPr lang="en-US" sz="1300" dirty="0">
                <a:solidFill>
                  <a:srgbClr val="1E2761"/>
                </a:solidFill>
              </a:rPr>
              <a:t>lignes effectivement traitées</a:t>
            </a:r>
            <a:endParaRPr lang="en-US" sz="1300" dirty="0"/>
          </a:p>
        </p:txBody>
      </p:sp>
      <p:sp>
        <p:nvSpPr>
          <p:cNvPr id="12" name="carte-La cause n'était"/>
          <p:cNvSpPr/>
          <p:nvPr/>
        </p:nvSpPr>
        <p:spPr>
          <a:xfrm>
            <a:off x="640080" y="3886200"/>
            <a:ext cx="5120640" cy="1463040"/>
          </a:xfrm>
          <a:prstGeom prst="roundRect">
            <a:avLst>
              <a:gd name="adj" fmla="val 3750"/>
            </a:avLst>
          </a:prstGeom>
          <a:solidFill>
            <a:srgbClr val="EEF2FA"/>
          </a:solidFill>
          <a:ln w="12700">
            <a:solidFill>
              <a:srgbClr val="EEF2FA"/>
            </a:solidFill>
            <a:prstDash val="solid"/>
          </a:ln>
        </p:spPr>
      </p:sp>
      <p:sp>
        <p:nvSpPr>
          <p:cNvPr id="13" name="Text 11"/>
          <p:cNvSpPr txBox="1"/>
          <p:nvPr/>
        </p:nvSpPr>
        <p:spPr>
          <a:xfrm>
            <a:off x="914400" y="4123944"/>
            <a:ext cx="4572000" cy="411480"/>
          </a:xfrm>
          <a:prstGeom prst="rect">
            <a:avLst/>
          </a:prstGeom>
          <a:noFill/>
          <a:ln/>
        </p:spPr>
        <p:txBody>
          <a:bodyPr wrap="square" lIns="0" tIns="0" rIns="0" bIns="0" rtlCol="0" anchor="ctr"/>
          <a:lstStyle/>
          <a:p>
            <a:pPr indent="0" marL="0">
              <a:buNone/>
            </a:pPr>
            <a:r>
              <a:rPr lang="en-US" sz="1500" b="1" dirty="0">
                <a:solidFill>
                  <a:schemeClr val="tx1"/>
                </a:solidFill>
              </a:rPr>
              <a:t>La cause n'était pas dans le code</a:t>
            </a:r>
            <a:endParaRPr lang="en-US" sz="1500" dirty="0"/>
          </a:p>
        </p:txBody>
      </p:sp>
      <p:sp>
        <p:nvSpPr>
          <p:cNvPr id="14" name="Text 12"/>
          <p:cNvSpPr txBox="1"/>
          <p:nvPr/>
        </p:nvSpPr>
        <p:spPr>
          <a:xfrm>
            <a:off x="914400" y="4544568"/>
            <a:ext cx="4572000" cy="62179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La colonne d'horodatage de chargement était alimentée à l'insertion : toutes les lignes portaient la même valeur. La fenêtre glissante sélectionnait donc tout.</a:t>
            </a:r>
            <a:endParaRPr lang="en-US" sz="1250" dirty="0"/>
          </a:p>
        </p:txBody>
      </p:sp>
      <p:sp>
        <p:nvSpPr>
          <p:cNvPr id="15" name="carte-Correction et va"/>
          <p:cNvSpPr/>
          <p:nvPr/>
        </p:nvSpPr>
        <p:spPr>
          <a:xfrm>
            <a:off x="6492240" y="3886200"/>
            <a:ext cx="5120640" cy="1463040"/>
          </a:xfrm>
          <a:prstGeom prst="roundRect">
            <a:avLst>
              <a:gd name="adj" fmla="val 3750"/>
            </a:avLst>
          </a:prstGeom>
          <a:solidFill>
            <a:srgbClr val="EEF2FA"/>
          </a:solidFill>
          <a:ln w="12700">
            <a:solidFill>
              <a:srgbClr val="EEF2FA"/>
            </a:solidFill>
            <a:prstDash val="solid"/>
          </a:ln>
        </p:spPr>
      </p:sp>
      <p:sp>
        <p:nvSpPr>
          <p:cNvPr id="16" name="Text 14"/>
          <p:cNvSpPr txBox="1"/>
          <p:nvPr/>
        </p:nvSpPr>
        <p:spPr>
          <a:xfrm>
            <a:off x="6766560" y="4123944"/>
            <a:ext cx="4572000" cy="411480"/>
          </a:xfrm>
          <a:prstGeom prst="rect">
            <a:avLst/>
          </a:prstGeom>
          <a:noFill/>
          <a:ln/>
        </p:spPr>
        <p:txBody>
          <a:bodyPr wrap="square" lIns="0" tIns="0" rIns="0" bIns="0" rtlCol="0" anchor="ctr"/>
          <a:lstStyle/>
          <a:p>
            <a:pPr indent="0" marL="0">
              <a:buNone/>
            </a:pPr>
            <a:r>
              <a:rPr lang="en-US" sz="1500" b="1" dirty="0">
                <a:solidFill>
                  <a:schemeClr val="tx1"/>
                </a:solidFill>
              </a:rPr>
              <a:t>Correction et validation</a:t>
            </a:r>
            <a:endParaRPr lang="en-US" sz="1500" dirty="0"/>
          </a:p>
        </p:txBody>
      </p:sp>
      <p:sp>
        <p:nvSpPr>
          <p:cNvPr id="17" name="Text 15"/>
          <p:cNvSpPr txBox="1"/>
          <p:nvPr/>
        </p:nvSpPr>
        <p:spPr>
          <a:xfrm>
            <a:off x="6766560" y="4544568"/>
            <a:ext cx="4572000" cy="62179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Horodatage réaliste côté source, fenêtre paramétrable, puis simulation d'un lot pour vérifier le comportement des mises à jour de statut.</a:t>
            </a:r>
            <a:endParaRPr lang="en-US" sz="1250" dirty="0"/>
          </a:p>
        </p:txBody>
      </p:sp>
      <p:sp>
        <p:nvSpPr>
          <p:cNvPr id="25" name="Slide Number Placeholder 0"/>
          <p:cNvSpPr>
            <a:spLocks noGrp="1"/>
          </p:cNvSpPr>
          <p:nvPr>
            <p:ph type="sldNum" sz="quarter" idx="4294967295"/>
          </p:nvPr>
        </p:nvSpPr>
        <p:spPr>
          <a:xfrm>
            <a:off x="1124712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rtlCol="0" anchor="ctr"/>
          <a:lstStyle/>
          <a:p>
            <a:pPr algn="l" indent="0" marL="0">
              <a:buNone/>
            </a:pPr>
            <a:r>
              <a:rPr lang="en-US" sz="3000" b="1" dirty="0">
                <a:solidFill>
                  <a:schemeClr val="tx1"/>
                </a:solidFill>
              </a:rPr>
              <a:t>Où passe réellement le temps</a:t>
            </a:r>
            <a:endParaRPr lang="en-US" sz="3000" dirty="0"/>
          </a:p>
        </p:txBody>
      </p:sp>
      <p:sp>
        <p:nvSpPr>
          <p:cNvPr id="3" name="Text 1"/>
          <p:cNvSpPr txBox="1"/>
          <p:nvPr/>
        </p:nvSpPr>
        <p:spPr>
          <a:xfrm>
            <a:off x="640080" y="1207008"/>
            <a:ext cx="10881360" cy="502920"/>
          </a:xfrm>
          <a:prstGeom prst="rect">
            <a:avLst/>
          </a:prstGeom>
          <a:noFill/>
          <a:ln/>
        </p:spPr>
        <p:txBody>
          <a:bodyPr wrap="square" lIns="0" tIns="0" rIns="0" bIns="0" rtlCol="0" anchor="ctr"/>
          <a:lstStyle/>
          <a:p>
            <a:pPr indent="0" marL="0">
              <a:lnSpc>
                <a:spcPct val="110000"/>
              </a:lnSpc>
              <a:buNone/>
            </a:pPr>
            <a:r>
              <a:rPr lang="en-US" sz="1500" dirty="0">
                <a:solidFill>
                  <a:srgbClr val="1E2761"/>
                </a:solidFill>
              </a:rPr>
              <a:t>Quatre mesures indépendantes convergent : à ce volume, le calcul ne dépasse jamais 1,4 % de la durée d'exécution.</a:t>
            </a:r>
            <a:endParaRPr lang="en-US" sz="1500" dirty="0"/>
          </a:p>
        </p:txBody>
      </p:sp>
      <p:graphicFrame>
        <p:nvGraphicFramePr>
          <p:cNvPr id="4" name="Chart 0" descr=""/>
          <p:cNvGraphicFramePr/>
          <p:nvPr/>
        </p:nvGraphicFramePr>
        <p:xfrm>
          <a:off x="6400800" y="178308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5" name="carte-105 tests coûten"/>
          <p:cNvSpPr/>
          <p:nvPr/>
        </p:nvSpPr>
        <p:spPr>
          <a:xfrm>
            <a:off x="640080" y="1828800"/>
            <a:ext cx="5486400" cy="1371600"/>
          </a:xfrm>
          <a:prstGeom prst="roundRect">
            <a:avLst>
              <a:gd name="adj" fmla="val 4000"/>
            </a:avLst>
          </a:prstGeom>
          <a:solidFill>
            <a:srgbClr val="EEF2FA"/>
          </a:solidFill>
          <a:ln w="12700">
            <a:solidFill>
              <a:srgbClr val="EEF2FA"/>
            </a:solidFill>
            <a:prstDash val="solid"/>
          </a:ln>
        </p:spPr>
      </p:sp>
      <p:sp>
        <p:nvSpPr>
          <p:cNvPr id="6" name="Text 3"/>
          <p:cNvSpPr txBox="1"/>
          <p:nvPr/>
        </p:nvSpPr>
        <p:spPr>
          <a:xfrm>
            <a:off x="914400" y="2066544"/>
            <a:ext cx="4937760" cy="411480"/>
          </a:xfrm>
          <a:prstGeom prst="rect">
            <a:avLst/>
          </a:prstGeom>
          <a:noFill/>
          <a:ln/>
        </p:spPr>
        <p:txBody>
          <a:bodyPr wrap="square" lIns="0" tIns="0" rIns="0" bIns="0" rtlCol="0" anchor="ctr"/>
          <a:lstStyle/>
          <a:p>
            <a:pPr indent="0" marL="0">
              <a:buNone/>
            </a:pPr>
            <a:r>
              <a:rPr lang="en-US" sz="1500" b="1" dirty="0">
                <a:solidFill>
                  <a:schemeClr val="tx1"/>
                </a:solidFill>
              </a:rPr>
              <a:t>105 tests coûtent 4,5 fois les 18 modèles</a:t>
            </a:r>
            <a:endParaRPr lang="en-US" sz="1500" dirty="0"/>
          </a:p>
        </p:txBody>
      </p:sp>
      <p:sp>
        <p:nvSpPr>
          <p:cNvPr id="7" name="Text 4"/>
          <p:cNvSpPr txBox="1"/>
          <p:nvPr/>
        </p:nvSpPr>
        <p:spPr>
          <a:xfrm>
            <a:off x="914400" y="2487168"/>
            <a:ext cx="4937760" cy="53035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Un test de non-nullité sur huit lignes prend dix secondes, comme une fusion sur un million.</a:t>
            </a:r>
            <a:endParaRPr lang="en-US" sz="1250" dirty="0"/>
          </a:p>
        </p:txBody>
      </p:sp>
      <p:sp>
        <p:nvSpPr>
          <p:cNvPr id="8" name="carte-Entre 50 et 68 %"/>
          <p:cNvSpPr/>
          <p:nvPr/>
        </p:nvSpPr>
        <p:spPr>
          <a:xfrm>
            <a:off x="640080" y="3291840"/>
            <a:ext cx="5486400" cy="1371600"/>
          </a:xfrm>
          <a:prstGeom prst="roundRect">
            <a:avLst>
              <a:gd name="adj" fmla="val 4000"/>
            </a:avLst>
          </a:prstGeom>
          <a:solidFill>
            <a:srgbClr val="EEF2FA"/>
          </a:solidFill>
          <a:ln w="12700">
            <a:solidFill>
              <a:srgbClr val="EEF2FA"/>
            </a:solidFill>
            <a:prstDash val="solid"/>
          </a:ln>
        </p:spPr>
      </p:sp>
      <p:sp>
        <p:nvSpPr>
          <p:cNvPr id="9" name="Text 6"/>
          <p:cNvSpPr txBox="1"/>
          <p:nvPr/>
        </p:nvSpPr>
        <p:spPr>
          <a:xfrm>
            <a:off x="914400" y="3529584"/>
            <a:ext cx="4937760" cy="411480"/>
          </a:xfrm>
          <a:prstGeom prst="rect">
            <a:avLst/>
          </a:prstGeom>
          <a:noFill/>
          <a:ln/>
        </p:spPr>
        <p:txBody>
          <a:bodyPr wrap="square" lIns="0" tIns="0" rIns="0" bIns="0" rtlCol="0" anchor="ctr"/>
          <a:lstStyle/>
          <a:p>
            <a:pPr indent="0" marL="0">
              <a:buNone/>
            </a:pPr>
            <a:r>
              <a:rPr lang="en-US" sz="1500" b="1" dirty="0">
                <a:solidFill>
                  <a:schemeClr val="tx1"/>
                </a:solidFill>
              </a:rPr>
              <a:t>Entre 50 et 68 % en synchronisation</a:t>
            </a:r>
            <a:endParaRPr lang="en-US" sz="1500" dirty="0"/>
          </a:p>
        </p:txBody>
      </p:sp>
      <p:sp>
        <p:nvSpPr>
          <p:cNvPr id="10" name="Text 7"/>
          <p:cNvSpPr txBox="1"/>
          <p:nvPr/>
        </p:nvSpPr>
        <p:spPr>
          <a:xfrm>
            <a:off x="914400" y="3950208"/>
            <a:ext cx="4937760" cy="53035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Coordination entre le nœud de calcul et le service cloud : de l'attente, pas du travail.</a:t>
            </a:r>
            <a:endParaRPr lang="en-US" sz="1250" dirty="0"/>
          </a:p>
        </p:txBody>
      </p:sp>
      <p:sp>
        <p:nvSpPr>
          <p:cNvPr id="11" name="Text 8"/>
          <p:cNvSpPr txBox="1"/>
          <p:nvPr/>
        </p:nvSpPr>
        <p:spPr>
          <a:xfrm>
            <a:off x="640080" y="4846320"/>
            <a:ext cx="10881360" cy="457200"/>
          </a:xfrm>
          <a:prstGeom prst="rect">
            <a:avLst/>
          </a:prstGeom>
          <a:noFill/>
          <a:ln/>
        </p:spPr>
        <p:txBody>
          <a:bodyPr wrap="square" lIns="0" tIns="0" rIns="0" bIns="0" rtlCol="0" anchor="ctr"/>
          <a:lstStyle/>
          <a:p>
            <a:pPr indent="0" marL="0">
              <a:buNone/>
            </a:pPr>
            <a:r>
              <a:rPr lang="en-US" sz="1500" b="1" dirty="0">
                <a:solidFill>
                  <a:srgbClr val="1E2761"/>
                </a:solidFill>
              </a:rPr>
              <a:t>Décision : réduire le nombre de requêtes plutôt que le coût unitaire de chacune.</a:t>
            </a:r>
            <a:endParaRPr lang="en-US" sz="1500" dirty="0"/>
          </a:p>
        </p:txBody>
      </p:sp>
      <p:sp>
        <p:nvSpPr>
          <p:cNvPr id="25" name="Slide Number Placeholder 0"/>
          <p:cNvSpPr>
            <a:spLocks noGrp="1"/>
          </p:cNvSpPr>
          <p:nvPr>
            <p:ph type="sldNum" sz="quarter" idx="4294967295"/>
          </p:nvPr>
        </p:nvSpPr>
        <p:spPr>
          <a:xfrm>
            <a:off x="1124712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rtlCol="0" anchor="ctr"/>
          <a:lstStyle/>
          <a:p>
            <a:pPr algn="l" indent="0" marL="0">
              <a:buNone/>
            </a:pPr>
            <a:r>
              <a:rPr lang="en-US" sz="3000" b="1" dirty="0">
                <a:solidFill>
                  <a:schemeClr val="tx1"/>
                </a:solidFill>
              </a:rPr>
              <a:t>Merge ou microbatch : un arbitrage par la mesure</a:t>
            </a:r>
            <a:endParaRPr lang="en-US" sz="3000" dirty="0"/>
          </a:p>
        </p:txBody>
      </p:sp>
      <p:sp>
        <p:nvSpPr>
          <p:cNvPr id="3" name="Text 1"/>
          <p:cNvSpPr txBox="1"/>
          <p:nvPr/>
        </p:nvSpPr>
        <p:spPr>
          <a:xfrm>
            <a:off x="640080" y="1207008"/>
            <a:ext cx="10881360" cy="502920"/>
          </a:xfrm>
          <a:prstGeom prst="rect">
            <a:avLst/>
          </a:prstGeom>
          <a:noFill/>
          <a:ln/>
        </p:spPr>
        <p:txBody>
          <a:bodyPr wrap="square" lIns="0" tIns="0" rIns="0" bIns="0" rtlCol="0" anchor="ctr"/>
          <a:lstStyle/>
          <a:p>
            <a:pPr indent="0" marL="0">
              <a:lnSpc>
                <a:spcPct val="110000"/>
              </a:lnSpc>
              <a:buNone/>
            </a:pPr>
            <a:r>
              <a:rPr lang="en-US" sz="1500" dirty="0">
                <a:solidFill>
                  <a:srgbClr val="1E2761"/>
                </a:solidFill>
              </a:rPr>
              <a:t>Le cahier des charges demandait d'évaluer la stratégie microbatch. J'ai construit un prototype fonctionnellement identique pour comparer à périmètre égal.</a:t>
            </a:r>
            <a:endParaRPr lang="en-US" sz="1500" dirty="0"/>
          </a:p>
        </p:txBody>
      </p:sp>
      <p:graphicFrame>
        <p:nvGraphicFramePr>
          <p:cNvPr id="4" name="Chart 0" descr=""/>
          <p:cNvGraphicFramePr/>
          <p:nvPr/>
        </p:nvGraphicFramePr>
        <p:xfrm>
          <a:off x="640080" y="2057400"/>
          <a:ext cx="5303520" cy="2468880"/>
        </p:xfrm>
        <a:graphic xmlns:a="http://schemas.openxmlformats.org/drawingml/2006/main">
          <a:graphicData uri="http://schemas.openxmlformats.org/drawingml/2006/chart">
            <c:chart xmlns:c="http://schemas.openxmlformats.org/drawingml/2006/chart" r:id="rId1"/>
          </a:graphicData>
        </a:graphic>
      </p:graphicFrame>
      <p:sp>
        <p:nvSpPr>
          <p:cNvPr id="5" name="carte-23 secondes cont"/>
          <p:cNvSpPr/>
          <p:nvPr/>
        </p:nvSpPr>
        <p:spPr>
          <a:xfrm>
            <a:off x="6309360" y="2057400"/>
            <a:ext cx="5303520" cy="1143000"/>
          </a:xfrm>
          <a:prstGeom prst="roundRect">
            <a:avLst>
              <a:gd name="adj" fmla="val 4800"/>
            </a:avLst>
          </a:prstGeom>
          <a:solidFill>
            <a:srgbClr val="E3F2EC"/>
          </a:solidFill>
          <a:ln w="12700">
            <a:solidFill>
              <a:srgbClr val="E3F2EC"/>
            </a:solidFill>
            <a:prstDash val="solid"/>
          </a:ln>
        </p:spPr>
      </p:sp>
      <p:sp>
        <p:nvSpPr>
          <p:cNvPr id="6" name="Text 3"/>
          <p:cNvSpPr txBox="1"/>
          <p:nvPr/>
        </p:nvSpPr>
        <p:spPr>
          <a:xfrm>
            <a:off x="6583680" y="2295144"/>
            <a:ext cx="4754880" cy="411480"/>
          </a:xfrm>
          <a:prstGeom prst="rect">
            <a:avLst/>
          </a:prstGeom>
          <a:noFill/>
          <a:ln/>
        </p:spPr>
        <p:txBody>
          <a:bodyPr wrap="square" lIns="0" tIns="0" rIns="0" bIns="0" rtlCol="0" anchor="ctr"/>
          <a:lstStyle/>
          <a:p>
            <a:pPr indent="0" marL="0">
              <a:buNone/>
            </a:pPr>
            <a:r>
              <a:rPr lang="en-US" sz="1500" b="1" dirty="0">
                <a:solidFill>
                  <a:schemeClr val="tx1"/>
                </a:solidFill>
              </a:rPr>
              <a:t>23 secondes contre 33 minutes</a:t>
            </a:r>
            <a:endParaRPr lang="en-US" sz="1500" dirty="0"/>
          </a:p>
        </p:txBody>
      </p:sp>
      <p:sp>
        <p:nvSpPr>
          <p:cNvPr id="7" name="Text 4"/>
          <p:cNvSpPr txBox="1"/>
          <p:nvPr/>
        </p:nvSpPr>
        <p:spPr>
          <a:xfrm>
            <a:off x="6583680" y="2715768"/>
            <a:ext cx="4754880" cy="30175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Une instruction contre 1 383, pour un volume de données identique.</a:t>
            </a:r>
            <a:endParaRPr lang="en-US" sz="1250" dirty="0"/>
          </a:p>
        </p:txBody>
      </p:sp>
      <p:sp>
        <p:nvSpPr>
          <p:cNvPr id="8" name="carte-L'argument décis"/>
          <p:cNvSpPr/>
          <p:nvPr/>
        </p:nvSpPr>
        <p:spPr>
          <a:xfrm>
            <a:off x="6309360" y="3291840"/>
            <a:ext cx="5303520" cy="2057400"/>
          </a:xfrm>
          <a:prstGeom prst="roundRect">
            <a:avLst>
              <a:gd name="adj" fmla="val 2667"/>
            </a:avLst>
          </a:prstGeom>
          <a:solidFill>
            <a:srgbClr val="EEF2FA"/>
          </a:solidFill>
          <a:ln w="12700">
            <a:solidFill>
              <a:srgbClr val="EEF2FA"/>
            </a:solidFill>
            <a:prstDash val="solid"/>
          </a:ln>
        </p:spPr>
      </p:sp>
      <p:sp>
        <p:nvSpPr>
          <p:cNvPr id="9" name="Text 6"/>
          <p:cNvSpPr txBox="1"/>
          <p:nvPr/>
        </p:nvSpPr>
        <p:spPr>
          <a:xfrm>
            <a:off x="6583680" y="3529584"/>
            <a:ext cx="4754880" cy="411480"/>
          </a:xfrm>
          <a:prstGeom prst="rect">
            <a:avLst/>
          </a:prstGeom>
          <a:noFill/>
          <a:ln/>
        </p:spPr>
        <p:txBody>
          <a:bodyPr wrap="square" lIns="0" tIns="0" rIns="0" bIns="0" rtlCol="0" anchor="ctr"/>
          <a:lstStyle/>
          <a:p>
            <a:pPr indent="0" marL="0">
              <a:buNone/>
            </a:pPr>
            <a:r>
              <a:rPr lang="en-US" sz="1500" b="1" dirty="0">
                <a:solidFill>
                  <a:schemeClr val="tx1"/>
                </a:solidFill>
              </a:rPr>
              <a:t>L'argument décisif n'est pas la vitesse</a:t>
            </a:r>
            <a:endParaRPr lang="en-US" sz="1500" dirty="0"/>
          </a:p>
        </p:txBody>
      </p:sp>
      <p:sp>
        <p:nvSpPr>
          <p:cNvPr id="10" name="Text 7"/>
          <p:cNvSpPr txBox="1"/>
          <p:nvPr/>
        </p:nvSpPr>
        <p:spPr>
          <a:xfrm>
            <a:off x="6583680" y="3950208"/>
            <a:ext cx="4754880" cy="121615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Microbatch découpe sur la date de l'événement. Or nos mises à jour — validation, rapprochement bancaire, revue conformité — surviennent des semaines après la transaction. Elles tomberaient hors de la fenêtre de rattrapage.</a:t>
            </a:r>
            <a:endParaRPr lang="en-US" sz="1250" dirty="0"/>
          </a:p>
          <a:p>
            <a:pPr indent="0" marL="0">
              <a:lnSpc>
                <a:spcPct val="115000"/>
              </a:lnSpc>
              <a:buNone/>
            </a:pPr>
            <a:endParaRPr lang="en-US" sz="1250" dirty="0"/>
          </a:p>
          <a:p>
            <a:pPr indent="0" marL="0">
              <a:lnSpc>
                <a:spcPct val="115000"/>
              </a:lnSpc>
              <a:buNone/>
            </a:pPr>
            <a:r>
              <a:rPr lang="en-US" sz="1250" dirty="0">
                <a:solidFill>
                  <a:srgbClr val="1E2761"/>
                </a:solidFill>
              </a:rPr>
              <a:t>La stratégie convient aux faits en insertion seule. Ce fait est l'inverse.</a:t>
            </a:r>
            <a:endParaRPr lang="en-US" sz="1250" dirty="0"/>
          </a:p>
        </p:txBody>
      </p:sp>
      <p:sp>
        <p:nvSpPr>
          <p:cNvPr id="11" name="Text 8"/>
          <p:cNvSpPr txBox="1"/>
          <p:nvPr/>
        </p:nvSpPr>
        <p:spPr>
          <a:xfrm>
            <a:off x="640080" y="5440680"/>
            <a:ext cx="10881360" cy="457200"/>
          </a:xfrm>
          <a:prstGeom prst="rect">
            <a:avLst/>
          </a:prstGeom>
          <a:noFill/>
          <a:ln/>
        </p:spPr>
        <p:txBody>
          <a:bodyPr wrap="square" lIns="0" tIns="0" rIns="0" bIns="0" rtlCol="0" anchor="ctr"/>
          <a:lstStyle/>
          <a:p>
            <a:pPr indent="0" marL="0">
              <a:buNone/>
            </a:pPr>
            <a:r>
              <a:rPr lang="en-US" sz="1500" b="1" dirty="0">
                <a:solidFill>
                  <a:srgbClr val="1E2761"/>
                </a:solidFill>
              </a:rPr>
              <a:t>Décision : merge conservé. Prototype gardé, désactivé par défaut, pour réévaluation au volume cible.</a:t>
            </a:r>
            <a:endParaRPr lang="en-US" sz="1500" dirty="0"/>
          </a:p>
        </p:txBody>
      </p:sp>
      <p:sp>
        <p:nvSpPr>
          <p:cNvPr id="25" name="Slide Number Placeholder 0"/>
          <p:cNvSpPr>
            <a:spLocks noGrp="1"/>
          </p:cNvSpPr>
          <p:nvPr>
            <p:ph type="sldNum" sz="quarter" idx="4294967295"/>
          </p:nvPr>
        </p:nvSpPr>
        <p:spPr>
          <a:xfrm>
            <a:off x="1124712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rtlCol="0" anchor="ctr"/>
          <a:lstStyle/>
          <a:p>
            <a:pPr algn="l" indent="0" marL="0">
              <a:buNone/>
            </a:pPr>
            <a:r>
              <a:rPr lang="en-US" sz="3000" b="1" dirty="0">
                <a:solidFill>
                  <a:schemeClr val="tx1"/>
                </a:solidFill>
              </a:rPr>
              <a:t>Les défaillances qui ne déclenchent aucune erreur</a:t>
            </a:r>
            <a:endParaRPr lang="en-US" sz="3000" dirty="0"/>
          </a:p>
        </p:txBody>
      </p:sp>
      <p:sp>
        <p:nvSpPr>
          <p:cNvPr id="3" name="Text 1"/>
          <p:cNvSpPr txBox="1"/>
          <p:nvPr/>
        </p:nvSpPr>
        <p:spPr>
          <a:xfrm>
            <a:off x="640080" y="1207008"/>
            <a:ext cx="10881360" cy="502920"/>
          </a:xfrm>
          <a:prstGeom prst="rect">
            <a:avLst/>
          </a:prstGeom>
          <a:noFill/>
          <a:ln/>
        </p:spPr>
        <p:txBody>
          <a:bodyPr wrap="square" lIns="0" tIns="0" rIns="0" bIns="0" rtlCol="0" anchor="ctr"/>
          <a:lstStyle/>
          <a:p>
            <a:pPr indent="0" marL="0">
              <a:lnSpc>
                <a:spcPct val="110000"/>
              </a:lnSpc>
              <a:buNone/>
            </a:pPr>
            <a:r>
              <a:rPr lang="en-US" sz="1500" dirty="0">
                <a:solidFill>
                  <a:srgbClr val="1E2761"/>
                </a:solidFill>
              </a:rPr>
              <a:t>Trois cas rencontrés où la donnée est fausse, le pipeline au vert, et aucun test en échec.</a:t>
            </a:r>
            <a:endParaRPr lang="en-US" sz="1500" dirty="0"/>
          </a:p>
        </p:txBody>
      </p:sp>
      <p:sp>
        <p:nvSpPr>
          <p:cNvPr id="4" name="carte-Montant 57 fois "/>
          <p:cNvSpPr/>
          <p:nvPr/>
        </p:nvSpPr>
        <p:spPr>
          <a:xfrm>
            <a:off x="640080" y="1828800"/>
            <a:ext cx="3520440" cy="2103120"/>
          </a:xfrm>
          <a:prstGeom prst="roundRect">
            <a:avLst>
              <a:gd name="adj" fmla="val 2609"/>
            </a:avLst>
          </a:prstGeom>
          <a:solidFill>
            <a:srgbClr val="FBE9DF"/>
          </a:solidFill>
          <a:ln w="12700">
            <a:solidFill>
              <a:srgbClr val="FBE9DF"/>
            </a:solidFill>
            <a:prstDash val="solid"/>
          </a:ln>
        </p:spPr>
      </p:sp>
      <p:sp>
        <p:nvSpPr>
          <p:cNvPr id="5" name="Text 3"/>
          <p:cNvSpPr txBox="1"/>
          <p:nvPr/>
        </p:nvSpPr>
        <p:spPr>
          <a:xfrm>
            <a:off x="914400" y="2066544"/>
            <a:ext cx="2971800" cy="256032"/>
          </a:xfrm>
          <a:prstGeom prst="rect">
            <a:avLst/>
          </a:prstGeom>
          <a:noFill/>
          <a:ln/>
        </p:spPr>
        <p:txBody>
          <a:bodyPr wrap="square" lIns="0" tIns="0" rIns="0" bIns="0" rtlCol="0" anchor="ctr"/>
          <a:lstStyle/>
          <a:p>
            <a:pPr indent="0" marL="0">
              <a:buNone/>
            </a:pPr>
            <a:r>
              <a:rPr lang="en-US" sz="1000" b="1" spc="100" kern="0" dirty="0">
                <a:solidFill>
                  <a:srgbClr val="E07A3F"/>
                </a:solidFill>
              </a:rPr>
              <a:t>CONVERSION</a:t>
            </a:r>
            <a:endParaRPr lang="en-US" sz="1000" dirty="0"/>
          </a:p>
        </p:txBody>
      </p:sp>
      <p:sp>
        <p:nvSpPr>
          <p:cNvPr id="6" name="Text 4"/>
          <p:cNvSpPr txBox="1"/>
          <p:nvPr/>
        </p:nvSpPr>
        <p:spPr>
          <a:xfrm>
            <a:off x="914400" y="2359152"/>
            <a:ext cx="2971800" cy="411480"/>
          </a:xfrm>
          <a:prstGeom prst="rect">
            <a:avLst/>
          </a:prstGeom>
          <a:noFill/>
          <a:ln/>
        </p:spPr>
        <p:txBody>
          <a:bodyPr wrap="square" lIns="0" tIns="0" rIns="0" bIns="0" rtlCol="0" anchor="ctr"/>
          <a:lstStyle/>
          <a:p>
            <a:pPr indent="0" marL="0">
              <a:buNone/>
            </a:pPr>
            <a:r>
              <a:rPr lang="en-US" sz="1500" b="1" dirty="0">
                <a:solidFill>
                  <a:schemeClr val="tx1"/>
                </a:solidFill>
              </a:rPr>
              <a:t>Montant 57 fois trop élevé</a:t>
            </a:r>
            <a:endParaRPr lang="en-US" sz="1500" dirty="0"/>
          </a:p>
        </p:txBody>
      </p:sp>
      <p:sp>
        <p:nvSpPr>
          <p:cNvPr id="7" name="Text 5"/>
          <p:cNvSpPr txBox="1"/>
          <p:nvPr/>
        </p:nvSpPr>
        <p:spPr>
          <a:xfrm>
            <a:off x="914400" y="2779776"/>
            <a:ext cx="2971800" cy="969264"/>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Sens de conversion inversé. Invisible sur l'euro, soit 55 % des lignes. Le contrôle de plage acceptait de 0 à 100 millions.</a:t>
            </a:r>
            <a:endParaRPr lang="en-US" sz="1250" dirty="0"/>
          </a:p>
        </p:txBody>
      </p:sp>
      <p:sp>
        <p:nvSpPr>
          <p:cNvPr id="8" name="carte-Transactions fig"/>
          <p:cNvSpPr/>
          <p:nvPr/>
        </p:nvSpPr>
        <p:spPr>
          <a:xfrm>
            <a:off x="4343400" y="1828800"/>
            <a:ext cx="3520440" cy="2103120"/>
          </a:xfrm>
          <a:prstGeom prst="roundRect">
            <a:avLst>
              <a:gd name="adj" fmla="val 2609"/>
            </a:avLst>
          </a:prstGeom>
          <a:solidFill>
            <a:srgbClr val="FBE9DF"/>
          </a:solidFill>
          <a:ln w="12700">
            <a:solidFill>
              <a:srgbClr val="FBE9DF"/>
            </a:solidFill>
            <a:prstDash val="solid"/>
          </a:ln>
        </p:spPr>
      </p:sp>
      <p:sp>
        <p:nvSpPr>
          <p:cNvPr id="9" name="Text 7"/>
          <p:cNvSpPr txBox="1"/>
          <p:nvPr/>
        </p:nvSpPr>
        <p:spPr>
          <a:xfrm>
            <a:off x="4617720" y="2066544"/>
            <a:ext cx="2971800" cy="256032"/>
          </a:xfrm>
          <a:prstGeom prst="rect">
            <a:avLst/>
          </a:prstGeom>
          <a:noFill/>
          <a:ln/>
        </p:spPr>
        <p:txBody>
          <a:bodyPr wrap="square" lIns="0" tIns="0" rIns="0" bIns="0" rtlCol="0" anchor="ctr"/>
          <a:lstStyle/>
          <a:p>
            <a:pPr indent="0" marL="0">
              <a:buNone/>
            </a:pPr>
            <a:r>
              <a:rPr lang="en-US" sz="1000" b="1" spc="100" kern="0" dirty="0">
                <a:solidFill>
                  <a:srgbClr val="E07A3F"/>
                </a:solidFill>
              </a:rPr>
              <a:t>GRAIN</a:t>
            </a:r>
            <a:endParaRPr lang="en-US" sz="1000" dirty="0"/>
          </a:p>
        </p:txBody>
      </p:sp>
      <p:sp>
        <p:nvSpPr>
          <p:cNvPr id="10" name="Text 8"/>
          <p:cNvSpPr txBox="1"/>
          <p:nvPr/>
        </p:nvSpPr>
        <p:spPr>
          <a:xfrm>
            <a:off x="4617720" y="2359152"/>
            <a:ext cx="2971800" cy="411480"/>
          </a:xfrm>
          <a:prstGeom prst="rect">
            <a:avLst/>
          </a:prstGeom>
          <a:noFill/>
          <a:ln/>
        </p:spPr>
        <p:txBody>
          <a:bodyPr wrap="square" lIns="0" tIns="0" rIns="0" bIns="0" rtlCol="0" anchor="ctr"/>
          <a:lstStyle/>
          <a:p>
            <a:pPr indent="0" marL="0">
              <a:buNone/>
            </a:pPr>
            <a:r>
              <a:rPr lang="en-US" sz="1500" b="1" dirty="0">
                <a:solidFill>
                  <a:schemeClr val="tx1"/>
                </a:solidFill>
              </a:rPr>
              <a:t>Transactions figées</a:t>
            </a:r>
            <a:endParaRPr lang="en-US" sz="1500" dirty="0"/>
          </a:p>
        </p:txBody>
      </p:sp>
      <p:sp>
        <p:nvSpPr>
          <p:cNvPr id="11" name="Text 9"/>
          <p:cNvSpPr txBox="1"/>
          <p:nvPr/>
        </p:nvSpPr>
        <p:spPr>
          <a:xfrm>
            <a:off x="4617720" y="2779776"/>
            <a:ext cx="2971800" cy="969264"/>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Une transaction rejetée après insertion sort du périmètre du fait, donc n'est jamais mise à jour. Le compteur de rejets affiche zéro en permanence.</a:t>
            </a:r>
            <a:endParaRPr lang="en-US" sz="1250" dirty="0"/>
          </a:p>
        </p:txBody>
      </p:sp>
      <p:sp>
        <p:nvSpPr>
          <p:cNvPr id="12" name="carte-Détection mal ca"/>
          <p:cNvSpPr/>
          <p:nvPr/>
        </p:nvSpPr>
        <p:spPr>
          <a:xfrm>
            <a:off x="8046720" y="1828800"/>
            <a:ext cx="3520440" cy="2103120"/>
          </a:xfrm>
          <a:prstGeom prst="roundRect">
            <a:avLst>
              <a:gd name="adj" fmla="val 2609"/>
            </a:avLst>
          </a:prstGeom>
          <a:solidFill>
            <a:srgbClr val="FBE9DF"/>
          </a:solidFill>
          <a:ln w="12700">
            <a:solidFill>
              <a:srgbClr val="FBE9DF"/>
            </a:solidFill>
            <a:prstDash val="solid"/>
          </a:ln>
        </p:spPr>
      </p:sp>
      <p:sp>
        <p:nvSpPr>
          <p:cNvPr id="13" name="Text 11"/>
          <p:cNvSpPr txBox="1"/>
          <p:nvPr/>
        </p:nvSpPr>
        <p:spPr>
          <a:xfrm>
            <a:off x="8321040" y="2066544"/>
            <a:ext cx="2971800" cy="256032"/>
          </a:xfrm>
          <a:prstGeom prst="rect">
            <a:avLst/>
          </a:prstGeom>
          <a:noFill/>
          <a:ln/>
        </p:spPr>
        <p:txBody>
          <a:bodyPr wrap="square" lIns="0" tIns="0" rIns="0" bIns="0" rtlCol="0" anchor="ctr"/>
          <a:lstStyle/>
          <a:p>
            <a:pPr indent="0" marL="0">
              <a:buNone/>
            </a:pPr>
            <a:r>
              <a:rPr lang="en-US" sz="1000" b="1" spc="100" kern="0" dirty="0">
                <a:solidFill>
                  <a:srgbClr val="E07A3F"/>
                </a:solidFill>
              </a:rPr>
              <a:t>SUPERVISION</a:t>
            </a:r>
            <a:endParaRPr lang="en-US" sz="1000" dirty="0"/>
          </a:p>
        </p:txBody>
      </p:sp>
      <p:sp>
        <p:nvSpPr>
          <p:cNvPr id="14" name="Text 12"/>
          <p:cNvSpPr txBox="1"/>
          <p:nvPr/>
        </p:nvSpPr>
        <p:spPr>
          <a:xfrm>
            <a:off x="8321040" y="2359152"/>
            <a:ext cx="2971800" cy="411480"/>
          </a:xfrm>
          <a:prstGeom prst="rect">
            <a:avLst/>
          </a:prstGeom>
          <a:noFill/>
          <a:ln/>
        </p:spPr>
        <p:txBody>
          <a:bodyPr wrap="square" lIns="0" tIns="0" rIns="0" bIns="0" rtlCol="0" anchor="ctr"/>
          <a:lstStyle/>
          <a:p>
            <a:pPr indent="0" marL="0">
              <a:buNone/>
            </a:pPr>
            <a:r>
              <a:rPr lang="en-US" sz="1500" b="1" dirty="0">
                <a:solidFill>
                  <a:schemeClr val="tx1"/>
                </a:solidFill>
              </a:rPr>
              <a:t>Détection mal calibrée</a:t>
            </a:r>
            <a:endParaRPr lang="en-US" sz="1500" dirty="0"/>
          </a:p>
        </p:txBody>
      </p:sp>
      <p:sp>
        <p:nvSpPr>
          <p:cNvPr id="15" name="Text 13"/>
          <p:cNvSpPr txBox="1"/>
          <p:nvPr/>
        </p:nvSpPr>
        <p:spPr>
          <a:xfrm>
            <a:off x="8321040" y="2779776"/>
            <a:ext cx="2971800" cy="969264"/>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Premier réglage : 79 fausses alertes. Deuxième : un feu vert sur une fenêtre sans données. Le temps d'exécution ne révèle ni l'un ni l'autre.</a:t>
            </a:r>
            <a:endParaRPr lang="en-US" sz="1250" dirty="0"/>
          </a:p>
        </p:txBody>
      </p:sp>
      <p:sp>
        <p:nvSpPr>
          <p:cNvPr id="16" name="carte-Contrôles ajouté"/>
          <p:cNvSpPr/>
          <p:nvPr/>
        </p:nvSpPr>
        <p:spPr>
          <a:xfrm>
            <a:off x="640080" y="4114800"/>
            <a:ext cx="5394960" cy="1234440"/>
          </a:xfrm>
          <a:prstGeom prst="roundRect">
            <a:avLst>
              <a:gd name="adj" fmla="val 4444"/>
            </a:avLst>
          </a:prstGeom>
          <a:solidFill>
            <a:srgbClr val="E3F2EC"/>
          </a:solidFill>
          <a:ln w="12700">
            <a:solidFill>
              <a:srgbClr val="E3F2EC"/>
            </a:solidFill>
            <a:prstDash val="solid"/>
          </a:ln>
        </p:spPr>
      </p:sp>
      <p:sp>
        <p:nvSpPr>
          <p:cNvPr id="17" name="Text 15"/>
          <p:cNvSpPr txBox="1"/>
          <p:nvPr/>
        </p:nvSpPr>
        <p:spPr>
          <a:xfrm>
            <a:off x="914400" y="4352544"/>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Contrôles ajoutés</a:t>
            </a:r>
            <a:endParaRPr lang="en-US" sz="1500" dirty="0"/>
          </a:p>
        </p:txBody>
      </p:sp>
      <p:sp>
        <p:nvSpPr>
          <p:cNvPr id="18" name="Text 16"/>
          <p:cNvSpPr txBox="1"/>
          <p:nvPr/>
        </p:nvSpPr>
        <p:spPr>
          <a:xfrm>
            <a:off x="914400" y="4773168"/>
            <a:ext cx="4846320" cy="39319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Recalcul de la conversion stratifié par devise, contrat de schéma verrouillant les 45 colonnes, invariants vérifiés par tests singuliers.</a:t>
            </a:r>
            <a:endParaRPr lang="en-US" sz="1250" dirty="0"/>
          </a:p>
        </p:txBody>
      </p:sp>
      <p:sp>
        <p:nvSpPr>
          <p:cNvPr id="19" name="carte-Règle retenue"/>
          <p:cNvSpPr/>
          <p:nvPr/>
        </p:nvSpPr>
        <p:spPr>
          <a:xfrm>
            <a:off x="6217920" y="4114800"/>
            <a:ext cx="5394960" cy="1234440"/>
          </a:xfrm>
          <a:prstGeom prst="roundRect">
            <a:avLst>
              <a:gd name="adj" fmla="val 4444"/>
            </a:avLst>
          </a:prstGeom>
          <a:solidFill>
            <a:srgbClr val="E3F2EC"/>
          </a:solidFill>
          <a:ln w="12700">
            <a:solidFill>
              <a:srgbClr val="E3F2EC"/>
            </a:solidFill>
            <a:prstDash val="solid"/>
          </a:ln>
        </p:spPr>
      </p:sp>
      <p:sp>
        <p:nvSpPr>
          <p:cNvPr id="20" name="Text 18"/>
          <p:cNvSpPr txBox="1"/>
          <p:nvPr/>
        </p:nvSpPr>
        <p:spPr>
          <a:xfrm>
            <a:off x="6492240" y="4352544"/>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Règle retenue</a:t>
            </a:r>
            <a:endParaRPr lang="en-US" sz="1500" dirty="0"/>
          </a:p>
        </p:txBody>
      </p:sp>
      <p:sp>
        <p:nvSpPr>
          <p:cNvPr id="21" name="Text 19"/>
          <p:cNvSpPr txBox="1"/>
          <p:nvPr/>
        </p:nvSpPr>
        <p:spPr>
          <a:xfrm>
            <a:off x="6492240" y="4773168"/>
            <a:ext cx="4846320" cy="39319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Vérifier non pas le statut d'un contrôle, mais ce qu'il a effectivement examiné : nombre de lignes, période couverte, taille de l'échantillon.</a:t>
            </a:r>
            <a:endParaRPr lang="en-US" sz="1250" dirty="0"/>
          </a:p>
        </p:txBody>
      </p:sp>
      <p:sp>
        <p:nvSpPr>
          <p:cNvPr id="25" name="Slide Number Placeholder 0"/>
          <p:cNvSpPr>
            <a:spLocks noGrp="1"/>
          </p:cNvSpPr>
          <p:nvPr>
            <p:ph type="sldNum" sz="quarter" idx="4294967295"/>
          </p:nvPr>
        </p:nvSpPr>
        <p:spPr>
          <a:xfrm>
            <a:off x="1124712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rtlCol="0" anchor="ctr"/>
          <a:lstStyle/>
          <a:p>
            <a:pPr algn="l" indent="0" marL="0">
              <a:buNone/>
            </a:pPr>
            <a:r>
              <a:rPr lang="en-US" sz="3000" b="1" dirty="0">
                <a:solidFill>
                  <a:schemeClr val="tx1"/>
                </a:solidFill>
              </a:rPr>
              <a:t>Le bilan chiffré</a:t>
            </a:r>
            <a:endParaRPr lang="en-US" sz="3000" dirty="0"/>
          </a:p>
        </p:txBody>
      </p:sp>
      <p:sp>
        <p:nvSpPr>
          <p:cNvPr id="3" name="stat-pipeline compl"/>
          <p:cNvSpPr txBox="1"/>
          <p:nvPr/>
        </p:nvSpPr>
        <p:spPr>
          <a:xfrm>
            <a:off x="640080" y="1371600"/>
            <a:ext cx="2560320" cy="777240"/>
          </a:xfrm>
          <a:prstGeom prst="rect">
            <a:avLst/>
          </a:prstGeom>
          <a:noFill/>
          <a:ln/>
        </p:spPr>
        <p:txBody>
          <a:bodyPr wrap="square" lIns="0" tIns="0" rIns="0" bIns="0" rtlCol="0" anchor="ctr"/>
          <a:lstStyle/>
          <a:p>
            <a:pPr algn="ctr" indent="0" marL="0">
              <a:buNone/>
            </a:pPr>
            <a:r>
              <a:rPr lang="en-US" sz="4200" b="1" dirty="0">
                <a:solidFill>
                  <a:srgbClr val="2E8B6B"/>
                </a:solidFill>
              </a:rPr>
              <a:t>7 min</a:t>
            </a:r>
            <a:endParaRPr lang="en-US" sz="4200" dirty="0"/>
          </a:p>
        </p:txBody>
      </p:sp>
      <p:sp>
        <p:nvSpPr>
          <p:cNvPr id="4" name="Text 2"/>
          <p:cNvSpPr txBox="1"/>
          <p:nvPr/>
        </p:nvSpPr>
        <p:spPr>
          <a:xfrm>
            <a:off x="640080" y="2148840"/>
            <a:ext cx="2560320" cy="457200"/>
          </a:xfrm>
          <a:prstGeom prst="rect">
            <a:avLst/>
          </a:prstGeom>
          <a:noFill/>
          <a:ln/>
        </p:spPr>
        <p:txBody>
          <a:bodyPr wrap="square" lIns="0" tIns="0" rIns="0" bIns="0" rtlCol="0" anchor="ctr"/>
          <a:lstStyle/>
          <a:p>
            <a:pPr algn="ctr" indent="0" marL="0">
              <a:buNone/>
            </a:pPr>
            <a:r>
              <a:rPr lang="en-US" sz="1150" dirty="0">
                <a:solidFill>
                  <a:srgbClr val="8A94A6"/>
                </a:solidFill>
              </a:rPr>
              <a:t>pipeline complet (objectif : 1 h)</a:t>
            </a:r>
            <a:endParaRPr lang="en-US" sz="1150" dirty="0"/>
          </a:p>
        </p:txBody>
      </p:sp>
      <p:sp>
        <p:nvSpPr>
          <p:cNvPr id="5" name="stat-modèles de don"/>
          <p:cNvSpPr txBox="1"/>
          <p:nvPr/>
        </p:nvSpPr>
        <p:spPr>
          <a:xfrm>
            <a:off x="3383280" y="1371600"/>
            <a:ext cx="2560320" cy="777240"/>
          </a:xfrm>
          <a:prstGeom prst="rect">
            <a:avLst/>
          </a:prstGeom>
          <a:noFill/>
          <a:ln/>
        </p:spPr>
        <p:txBody>
          <a:bodyPr wrap="square" lIns="0" tIns="0" rIns="0" bIns="0" rtlCol="0" anchor="ctr"/>
          <a:lstStyle/>
          <a:p>
            <a:pPr algn="ctr" indent="0" marL="0">
              <a:buNone/>
            </a:pPr>
            <a:r>
              <a:rPr lang="en-US" sz="4200" b="1" dirty="0">
                <a:solidFill>
                  <a:srgbClr val="1E2761"/>
                </a:solidFill>
              </a:rPr>
              <a:t>23</a:t>
            </a:r>
            <a:endParaRPr lang="en-US" sz="4200" dirty="0"/>
          </a:p>
        </p:txBody>
      </p:sp>
      <p:sp>
        <p:nvSpPr>
          <p:cNvPr id="6" name="Text 4"/>
          <p:cNvSpPr txBox="1"/>
          <p:nvPr/>
        </p:nvSpPr>
        <p:spPr>
          <a:xfrm>
            <a:off x="3383280" y="2148840"/>
            <a:ext cx="2560320" cy="457200"/>
          </a:xfrm>
          <a:prstGeom prst="rect">
            <a:avLst/>
          </a:prstGeom>
          <a:noFill/>
          <a:ln/>
        </p:spPr>
        <p:txBody>
          <a:bodyPr wrap="square" lIns="0" tIns="0" rIns="0" bIns="0" rtlCol="0" anchor="ctr"/>
          <a:lstStyle/>
          <a:p>
            <a:pPr algn="ctr" indent="0" marL="0">
              <a:buNone/>
            </a:pPr>
            <a:r>
              <a:rPr lang="en-US" sz="1150" dirty="0">
                <a:solidFill>
                  <a:srgbClr val="8A94A6"/>
                </a:solidFill>
              </a:rPr>
              <a:t>modèles de données</a:t>
            </a:r>
            <a:endParaRPr lang="en-US" sz="1150" dirty="0"/>
          </a:p>
        </p:txBody>
      </p:sp>
      <p:sp>
        <p:nvSpPr>
          <p:cNvPr id="7" name="stat-tests automati"/>
          <p:cNvSpPr txBox="1"/>
          <p:nvPr/>
        </p:nvSpPr>
        <p:spPr>
          <a:xfrm>
            <a:off x="6126480" y="1371600"/>
            <a:ext cx="2560320" cy="777240"/>
          </a:xfrm>
          <a:prstGeom prst="rect">
            <a:avLst/>
          </a:prstGeom>
          <a:noFill/>
          <a:ln/>
        </p:spPr>
        <p:txBody>
          <a:bodyPr wrap="square" lIns="0" tIns="0" rIns="0" bIns="0" rtlCol="0" anchor="ctr"/>
          <a:lstStyle/>
          <a:p>
            <a:pPr algn="ctr" indent="0" marL="0">
              <a:buNone/>
            </a:pPr>
            <a:r>
              <a:rPr lang="en-US" sz="4200" b="1" dirty="0">
                <a:solidFill>
                  <a:srgbClr val="1E2761"/>
                </a:solidFill>
              </a:rPr>
              <a:t>172</a:t>
            </a:r>
            <a:endParaRPr lang="en-US" sz="4200" dirty="0"/>
          </a:p>
        </p:txBody>
      </p:sp>
      <p:sp>
        <p:nvSpPr>
          <p:cNvPr id="8" name="Text 6"/>
          <p:cNvSpPr txBox="1"/>
          <p:nvPr/>
        </p:nvSpPr>
        <p:spPr>
          <a:xfrm>
            <a:off x="6126480" y="2148840"/>
            <a:ext cx="2560320" cy="457200"/>
          </a:xfrm>
          <a:prstGeom prst="rect">
            <a:avLst/>
          </a:prstGeom>
          <a:noFill/>
          <a:ln/>
        </p:spPr>
        <p:txBody>
          <a:bodyPr wrap="square" lIns="0" tIns="0" rIns="0" bIns="0" rtlCol="0" anchor="ctr"/>
          <a:lstStyle/>
          <a:p>
            <a:pPr algn="ctr" indent="0" marL="0">
              <a:buNone/>
            </a:pPr>
            <a:r>
              <a:rPr lang="en-US" sz="1150" dirty="0">
                <a:solidFill>
                  <a:srgbClr val="8A94A6"/>
                </a:solidFill>
              </a:rPr>
              <a:t>tests automatisés</a:t>
            </a:r>
            <a:endParaRPr lang="en-US" sz="1150" dirty="0"/>
          </a:p>
        </p:txBody>
      </p:sp>
      <p:sp>
        <p:nvSpPr>
          <p:cNvPr id="9" name="stat-coût du charge"/>
          <p:cNvSpPr txBox="1"/>
          <p:nvPr/>
        </p:nvSpPr>
        <p:spPr>
          <a:xfrm>
            <a:off x="8869680" y="1371600"/>
            <a:ext cx="2560320" cy="777240"/>
          </a:xfrm>
          <a:prstGeom prst="rect">
            <a:avLst/>
          </a:prstGeom>
          <a:noFill/>
          <a:ln/>
        </p:spPr>
        <p:txBody>
          <a:bodyPr wrap="square" lIns="0" tIns="0" rIns="0" bIns="0" rtlCol="0" anchor="ctr"/>
          <a:lstStyle/>
          <a:p>
            <a:pPr algn="ctr" indent="0" marL="0">
              <a:buNone/>
            </a:pPr>
            <a:r>
              <a:rPr lang="en-US" sz="4200" b="1" dirty="0">
                <a:solidFill>
                  <a:srgbClr val="2E8B6B"/>
                </a:solidFill>
              </a:rPr>
              <a:t>0,30 €</a:t>
            </a:r>
            <a:endParaRPr lang="en-US" sz="4200" dirty="0"/>
          </a:p>
        </p:txBody>
      </p:sp>
      <p:sp>
        <p:nvSpPr>
          <p:cNvPr id="10" name="Text 8"/>
          <p:cNvSpPr txBox="1"/>
          <p:nvPr/>
        </p:nvSpPr>
        <p:spPr>
          <a:xfrm>
            <a:off x="8869680" y="2148840"/>
            <a:ext cx="2560320" cy="457200"/>
          </a:xfrm>
          <a:prstGeom prst="rect">
            <a:avLst/>
          </a:prstGeom>
          <a:noFill/>
          <a:ln/>
        </p:spPr>
        <p:txBody>
          <a:bodyPr wrap="square" lIns="0" tIns="0" rIns="0" bIns="0" rtlCol="0" anchor="ctr"/>
          <a:lstStyle/>
          <a:p>
            <a:pPr algn="ctr" indent="0" marL="0">
              <a:buNone/>
            </a:pPr>
            <a:r>
              <a:rPr lang="en-US" sz="1150" dirty="0">
                <a:solidFill>
                  <a:srgbClr val="8A94A6"/>
                </a:solidFill>
              </a:rPr>
              <a:t>coût du chargement complet</a:t>
            </a:r>
            <a:endParaRPr lang="en-US" sz="1150" dirty="0"/>
          </a:p>
        </p:txBody>
      </p:sp>
      <p:sp>
        <p:nvSpPr>
          <p:cNvPr id="11" name="carte-Objectif de temp"/>
          <p:cNvSpPr/>
          <p:nvPr/>
        </p:nvSpPr>
        <p:spPr>
          <a:xfrm>
            <a:off x="640080" y="2880360"/>
            <a:ext cx="5394960" cy="1371600"/>
          </a:xfrm>
          <a:prstGeom prst="roundRect">
            <a:avLst>
              <a:gd name="adj" fmla="val 4000"/>
            </a:avLst>
          </a:prstGeom>
          <a:solidFill>
            <a:srgbClr val="E3F2EC"/>
          </a:solidFill>
          <a:ln w="12700">
            <a:solidFill>
              <a:srgbClr val="E3F2EC"/>
            </a:solidFill>
            <a:prstDash val="solid"/>
          </a:ln>
        </p:spPr>
      </p:sp>
      <p:sp>
        <p:nvSpPr>
          <p:cNvPr id="12" name="Text 10"/>
          <p:cNvSpPr txBox="1"/>
          <p:nvPr/>
        </p:nvSpPr>
        <p:spPr>
          <a:xfrm>
            <a:off x="914400" y="3118104"/>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Objectif de temps atteint</a:t>
            </a:r>
            <a:endParaRPr lang="en-US" sz="1500" dirty="0"/>
          </a:p>
        </p:txBody>
      </p:sp>
      <p:sp>
        <p:nvSpPr>
          <p:cNvPr id="13" name="Text 11"/>
          <p:cNvSpPr txBox="1"/>
          <p:nvPr/>
        </p:nvSpPr>
        <p:spPr>
          <a:xfrm>
            <a:off x="914400" y="3538728"/>
            <a:ext cx="4846320" cy="53035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Sept minutes pour la totalité du pipeline, tests compris, contre les quatre heures initiales.</a:t>
            </a:r>
            <a:endParaRPr lang="en-US" sz="1250" dirty="0"/>
          </a:p>
        </p:txBody>
      </p:sp>
      <p:sp>
        <p:nvSpPr>
          <p:cNvPr id="14" name="carte-Sur 1 % du volum"/>
          <p:cNvSpPr/>
          <p:nvPr/>
        </p:nvSpPr>
        <p:spPr>
          <a:xfrm>
            <a:off x="6217920" y="2880360"/>
            <a:ext cx="5394960" cy="1371600"/>
          </a:xfrm>
          <a:prstGeom prst="roundRect">
            <a:avLst>
              <a:gd name="adj" fmla="val 4000"/>
            </a:avLst>
          </a:prstGeom>
          <a:solidFill>
            <a:srgbClr val="FBE9DF"/>
          </a:solidFill>
          <a:ln w="12700">
            <a:solidFill>
              <a:srgbClr val="FBE9DF"/>
            </a:solidFill>
            <a:prstDash val="solid"/>
          </a:ln>
        </p:spPr>
      </p:sp>
      <p:sp>
        <p:nvSpPr>
          <p:cNvPr id="15" name="Text 13"/>
          <p:cNvSpPr txBox="1"/>
          <p:nvPr/>
        </p:nvSpPr>
        <p:spPr>
          <a:xfrm>
            <a:off x="6492240" y="3118104"/>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Sur 1 % du volume cible</a:t>
            </a:r>
            <a:endParaRPr lang="en-US" sz="1500" dirty="0"/>
          </a:p>
        </p:txBody>
      </p:sp>
      <p:sp>
        <p:nvSpPr>
          <p:cNvPr id="16" name="Text 14"/>
          <p:cNvSpPr txBox="1"/>
          <p:nvPr/>
        </p:nvSpPr>
        <p:spPr>
          <a:xfrm>
            <a:off x="6492240" y="3538728"/>
            <a:ext cx="4846320" cy="53035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La structure du temps mesuré, dominée par la latence, ne se transpose pas linéairement à 100 millions de lignes.</a:t>
            </a:r>
            <a:endParaRPr lang="en-US" sz="1250" dirty="0"/>
          </a:p>
        </p:txBody>
      </p:sp>
      <p:sp>
        <p:nvSpPr>
          <p:cNvPr id="17" name="Text 15"/>
          <p:cNvSpPr txBox="1"/>
          <p:nvPr/>
        </p:nvSpPr>
        <p:spPr>
          <a:xfrm>
            <a:off x="640080" y="4434840"/>
            <a:ext cx="5486400" cy="365760"/>
          </a:xfrm>
          <a:prstGeom prst="rect">
            <a:avLst/>
          </a:prstGeom>
          <a:noFill/>
          <a:ln/>
        </p:spPr>
        <p:txBody>
          <a:bodyPr wrap="square" lIns="0" tIns="0" rIns="0" bIns="0" rtlCol="0" anchor="ctr"/>
          <a:lstStyle/>
          <a:p>
            <a:pPr indent="0" marL="0">
              <a:buNone/>
            </a:pPr>
            <a:r>
              <a:rPr lang="en-US" sz="1700" b="1" dirty="0">
                <a:solidFill>
                  <a:schemeClr val="tx1"/>
                </a:solidFill>
              </a:rPr>
              <a:t>Limites assumées</a:t>
            </a:r>
            <a:endParaRPr lang="en-US" sz="1700" dirty="0"/>
          </a:p>
        </p:txBody>
      </p:sp>
      <p:sp>
        <p:nvSpPr>
          <p:cNvPr id="18" name="Text 16"/>
          <p:cNvSpPr txBox="1"/>
          <p:nvPr/>
        </p:nvSpPr>
        <p:spPr>
          <a:xfrm>
            <a:off x="640080" y="4846320"/>
            <a:ext cx="10881360" cy="914400"/>
          </a:xfrm>
          <a:prstGeom prst="rect">
            <a:avLst/>
          </a:prstGeom>
          <a:noFill/>
          <a:ln/>
        </p:spPr>
        <p:txBody>
          <a:bodyPr wrap="square" lIns="0" tIns="0" rIns="0" bIns="0" rtlCol="0" anchor="ctr"/>
          <a:lstStyle/>
          <a:p>
            <a:pPr marL="342900" indent="-342900">
              <a:spcAft>
                <a:spcPts val="400"/>
              </a:spcAft>
              <a:buSzPct val="100000"/>
              <a:buChar char="•"/>
            </a:pPr>
            <a:r>
              <a:rPr lang="en-US" sz="1350" dirty="0">
                <a:solidFill>
                  <a:srgbClr val="1E2761"/>
                </a:solidFill>
              </a:rPr>
              <a:t>Sprint 5 non réalisé : intégration continue et orchestration.</a:t>
            </a:r>
            <a:endParaRPr lang="en-US" sz="1350" dirty="0"/>
          </a:p>
          <a:p>
            <a:pPr marL="342900" indent="-342900">
              <a:spcAft>
                <a:spcPts val="400"/>
              </a:spcAft>
              <a:buSzPct val="100000"/>
              <a:buChar char="•"/>
            </a:pPr>
            <a:r>
              <a:rPr lang="en-US" sz="1350" dirty="0">
                <a:solidFill>
                  <a:srgbClr val="1E2761"/>
                </a:solidFill>
              </a:rPr>
              <a:t>Deux défauts de modélisation documentés plutôt que corrigés, avec leurs correctifs chiffrés.</a:t>
            </a:r>
            <a:endParaRPr lang="en-US" sz="1350" dirty="0"/>
          </a:p>
          <a:p>
            <a:pPr marL="342900" indent="-342900">
              <a:spcAft>
                <a:spcPts val="400"/>
              </a:spcAft>
              <a:buSzPct val="100000"/>
              <a:buChar char="•"/>
            </a:pPr>
            <a:r>
              <a:rPr lang="en-US" sz="1350" dirty="0">
                <a:solidFill>
                  <a:srgbClr val="1E2761"/>
                </a:solidFill>
              </a:rPr>
              <a:t>L'historisation ne couvre que la période postérieure à sa mise en service.</a:t>
            </a:r>
            <a:endParaRPr lang="en-US" sz="1350" dirty="0"/>
          </a:p>
        </p:txBody>
      </p:sp>
      <p:sp>
        <p:nvSpPr>
          <p:cNvPr id="25" name="Slide Number Placeholder 0"/>
          <p:cNvSpPr>
            <a:spLocks noGrp="1"/>
          </p:cNvSpPr>
          <p:nvPr>
            <p:ph type="sldNum" sz="quarter" idx="4294967295"/>
          </p:nvPr>
        </p:nvSpPr>
        <p:spPr>
          <a:xfrm>
            <a:off x="1124712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rtlCol="0" anchor="ctr"/>
          <a:lstStyle/>
          <a:p>
            <a:pPr algn="l" indent="0" marL="0">
              <a:buNone/>
            </a:pPr>
            <a:r>
              <a:rPr lang="en-US" sz="3000" b="1" dirty="0">
                <a:solidFill>
                  <a:schemeClr val="tx1"/>
                </a:solidFill>
              </a:rPr>
              <a:t>Et si le volume était multiplié par cent</a:t>
            </a:r>
            <a:endParaRPr lang="en-US" sz="3000" dirty="0"/>
          </a:p>
        </p:txBody>
      </p:sp>
      <p:sp>
        <p:nvSpPr>
          <p:cNvPr id="3" name="Text 1"/>
          <p:cNvSpPr txBox="1"/>
          <p:nvPr/>
        </p:nvSpPr>
        <p:spPr>
          <a:xfrm>
            <a:off x="640080" y="1207008"/>
            <a:ext cx="10881360" cy="502920"/>
          </a:xfrm>
          <a:prstGeom prst="rect">
            <a:avLst/>
          </a:prstGeom>
          <a:noFill/>
          <a:ln/>
        </p:spPr>
        <p:txBody>
          <a:bodyPr wrap="square" lIns="0" tIns="0" rIns="0" bIns="0" rtlCol="0" anchor="ctr"/>
          <a:lstStyle/>
          <a:p>
            <a:pPr indent="0" marL="0">
              <a:lnSpc>
                <a:spcPct val="110000"/>
              </a:lnSpc>
              <a:buNone/>
            </a:pPr>
            <a:r>
              <a:rPr lang="en-US" sz="1500" dirty="0">
                <a:solidFill>
                  <a:srgbClr val="1E2761"/>
                </a:solidFill>
              </a:rPr>
              <a:t>La question n'est pas d'appliquer ces conclusions à plus grande échelle, mais de rejouer le protocole de mesure.</a:t>
            </a:r>
            <a:endParaRPr lang="en-US" sz="1500" dirty="0"/>
          </a:p>
        </p:txBody>
      </p:sp>
      <p:sp>
        <p:nvSpPr>
          <p:cNvPr id="4" name="carte-Ce qui tient"/>
          <p:cNvSpPr/>
          <p:nvPr/>
        </p:nvSpPr>
        <p:spPr>
          <a:xfrm>
            <a:off x="640080" y="1828800"/>
            <a:ext cx="5394960" cy="2286000"/>
          </a:xfrm>
          <a:prstGeom prst="roundRect">
            <a:avLst>
              <a:gd name="adj" fmla="val 2400"/>
            </a:avLst>
          </a:prstGeom>
          <a:solidFill>
            <a:srgbClr val="E3F2EC"/>
          </a:solidFill>
          <a:ln w="12700">
            <a:solidFill>
              <a:srgbClr val="E3F2EC"/>
            </a:solidFill>
            <a:prstDash val="solid"/>
          </a:ln>
        </p:spPr>
      </p:sp>
      <p:sp>
        <p:nvSpPr>
          <p:cNvPr id="5" name="Text 3"/>
          <p:cNvSpPr txBox="1"/>
          <p:nvPr/>
        </p:nvSpPr>
        <p:spPr>
          <a:xfrm>
            <a:off x="914400" y="2066544"/>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Ce qui tient</a:t>
            </a:r>
            <a:endParaRPr lang="en-US" sz="1500" dirty="0"/>
          </a:p>
        </p:txBody>
      </p:sp>
      <p:sp>
        <p:nvSpPr>
          <p:cNvPr id="6" name="Text 4"/>
          <p:cNvSpPr txBox="1"/>
          <p:nvPr/>
        </p:nvSpPr>
        <p:spPr>
          <a:xfrm>
            <a:off x="914400" y="2487168"/>
            <a:ext cx="4846320" cy="144475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La stratégie merge, en ajoutant des prédicats bornant le balayage de la table cible.</a:t>
            </a:r>
            <a:endParaRPr lang="en-US" sz="1250" dirty="0"/>
          </a:p>
          <a:p>
            <a:pPr indent="0" marL="0">
              <a:lnSpc>
                <a:spcPct val="115000"/>
              </a:lnSpc>
              <a:buNone/>
            </a:pPr>
            <a:endParaRPr lang="en-US" sz="1250" dirty="0"/>
          </a:p>
          <a:p>
            <a:pPr indent="0" marL="0">
              <a:lnSpc>
                <a:spcPct val="115000"/>
              </a:lnSpc>
              <a:buNone/>
            </a:pPr>
            <a:r>
              <a:rPr lang="en-US" sz="1250" dirty="0">
                <a:solidFill>
                  <a:srgbClr val="1E2761"/>
                </a:solidFill>
              </a:rPr>
              <a:t>Le clustering, qui devient enfin utile : sa métrique actuelle est mauvaise parce que la clé définit 192 combinaisons pour 17 micro-partitions — une impossibilité arithmétique qui disparaît à l'échelle.</a:t>
            </a:r>
            <a:endParaRPr lang="en-US" sz="1250" dirty="0"/>
          </a:p>
          <a:p>
            <a:pPr indent="0" marL="0">
              <a:lnSpc>
                <a:spcPct val="115000"/>
              </a:lnSpc>
              <a:buNone/>
            </a:pPr>
            <a:endParaRPr lang="en-US" sz="1250" dirty="0"/>
          </a:p>
          <a:p>
            <a:pPr indent="0" marL="0">
              <a:lnSpc>
                <a:spcPct val="115000"/>
              </a:lnSpc>
              <a:buNone/>
            </a:pPr>
            <a:r>
              <a:rPr lang="en-US" sz="1250" dirty="0">
                <a:solidFill>
                  <a:srgbClr val="1E2761"/>
                </a:solidFill>
              </a:rPr>
              <a:t>Les contrats de schéma, dont le coût est nul.</a:t>
            </a:r>
            <a:endParaRPr lang="en-US" sz="1250" dirty="0"/>
          </a:p>
        </p:txBody>
      </p:sp>
      <p:sp>
        <p:nvSpPr>
          <p:cNvPr id="7" name="carte-Ce qui doit chan"/>
          <p:cNvSpPr/>
          <p:nvPr/>
        </p:nvSpPr>
        <p:spPr>
          <a:xfrm>
            <a:off x="6217920" y="1828800"/>
            <a:ext cx="5394960" cy="2286000"/>
          </a:xfrm>
          <a:prstGeom prst="roundRect">
            <a:avLst>
              <a:gd name="adj" fmla="val 2400"/>
            </a:avLst>
          </a:prstGeom>
          <a:solidFill>
            <a:srgbClr val="FBE9DF"/>
          </a:solidFill>
          <a:ln w="12700">
            <a:solidFill>
              <a:srgbClr val="FBE9DF"/>
            </a:solidFill>
            <a:prstDash val="solid"/>
          </a:ln>
        </p:spPr>
      </p:sp>
      <p:sp>
        <p:nvSpPr>
          <p:cNvPr id="8" name="Text 6"/>
          <p:cNvSpPr txBox="1"/>
          <p:nvPr/>
        </p:nvSpPr>
        <p:spPr>
          <a:xfrm>
            <a:off x="6492240" y="2066544"/>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Ce qui doit changer</a:t>
            </a:r>
            <a:endParaRPr lang="en-US" sz="1500" dirty="0"/>
          </a:p>
        </p:txBody>
      </p:sp>
      <p:sp>
        <p:nvSpPr>
          <p:cNvPr id="9" name="Text 7"/>
          <p:cNvSpPr txBox="1"/>
          <p:nvPr/>
        </p:nvSpPr>
        <p:spPr>
          <a:xfrm>
            <a:off x="6492240" y="2487168"/>
            <a:ext cx="4846320" cy="144475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L'ingestion : passer à un stage externe, le transfert depuis un poste client représentant aujourd'hui 41 % du temps.</a:t>
            </a:r>
            <a:endParaRPr lang="en-US" sz="1250" dirty="0"/>
          </a:p>
          <a:p>
            <a:pPr indent="0" marL="0">
              <a:lnSpc>
                <a:spcPct val="115000"/>
              </a:lnSpc>
              <a:buNone/>
            </a:pPr>
            <a:endParaRPr lang="en-US" sz="1250" dirty="0"/>
          </a:p>
          <a:p>
            <a:pPr indent="0" marL="0">
              <a:lnSpc>
                <a:spcPct val="115000"/>
              </a:lnSpc>
              <a:buNone/>
            </a:pPr>
            <a:r>
              <a:rPr lang="en-US" sz="1250" dirty="0">
                <a:solidFill>
                  <a:srgbClr val="1E2761"/>
                </a:solidFill>
              </a:rPr>
              <a:t>Les tests : réduire leur nombre plutôt que leur durée.</a:t>
            </a:r>
            <a:endParaRPr lang="en-US" sz="1250" dirty="0"/>
          </a:p>
          <a:p>
            <a:pPr indent="0" marL="0">
              <a:lnSpc>
                <a:spcPct val="115000"/>
              </a:lnSpc>
              <a:buNone/>
            </a:pPr>
            <a:endParaRPr lang="en-US" sz="1250" dirty="0"/>
          </a:p>
          <a:p>
            <a:pPr indent="0" marL="0">
              <a:lnSpc>
                <a:spcPct val="115000"/>
              </a:lnSpc>
              <a:buNone/>
            </a:pPr>
            <a:r>
              <a:rPr lang="en-US" sz="1250" dirty="0">
                <a:solidFill>
                  <a:srgbClr val="1E2761"/>
                </a:solidFill>
              </a:rPr>
              <a:t>Le dimensionnement : le calibrer sur le déversement mémoire observé, aujourd'hui inexistant.</a:t>
            </a:r>
            <a:endParaRPr lang="en-US" sz="1250" dirty="0"/>
          </a:p>
        </p:txBody>
      </p:sp>
      <p:sp>
        <p:nvSpPr>
          <p:cNvPr id="10" name="Text 8"/>
          <p:cNvSpPr txBox="1"/>
          <p:nvPr/>
        </p:nvSpPr>
        <p:spPr>
          <a:xfrm>
            <a:off x="640080" y="4343400"/>
            <a:ext cx="10881360" cy="457200"/>
          </a:xfrm>
          <a:prstGeom prst="rect">
            <a:avLst/>
          </a:prstGeom>
          <a:noFill/>
          <a:ln/>
        </p:spPr>
        <p:txBody>
          <a:bodyPr wrap="square" lIns="0" tIns="0" rIns="0" bIns="0" rtlCol="0" anchor="ctr"/>
          <a:lstStyle/>
          <a:p>
            <a:pPr indent="0" marL="0">
              <a:buNone/>
            </a:pPr>
            <a:r>
              <a:rPr lang="en-US" sz="1500" b="1" dirty="0">
                <a:solidFill>
                  <a:srgbClr val="1E2761"/>
                </a:solidFill>
              </a:rPr>
              <a:t>Plusieurs conclusions s'inverseront : microbatch et Search Optimization redeviennent pertinents là où une instruction unique atteint ses limites.</a:t>
            </a:r>
            <a:endParaRPr lang="en-US" sz="1500" dirty="0"/>
          </a:p>
        </p:txBody>
      </p:sp>
      <p:sp>
        <p:nvSpPr>
          <p:cNvPr id="11" name="Text 9"/>
          <p:cNvSpPr txBox="1"/>
          <p:nvPr/>
        </p:nvSpPr>
        <p:spPr>
          <a:xfrm>
            <a:off x="640080" y="5029200"/>
            <a:ext cx="10881360" cy="548640"/>
          </a:xfrm>
          <a:prstGeom prst="rect">
            <a:avLst/>
          </a:prstGeom>
          <a:noFill/>
          <a:ln/>
        </p:spPr>
        <p:txBody>
          <a:bodyPr wrap="square" lIns="0" tIns="0" rIns="0" bIns="0" rtlCol="0" anchor="ctr"/>
          <a:lstStyle/>
          <a:p>
            <a:pPr indent="0" marL="0">
              <a:buNone/>
            </a:pPr>
            <a:r>
              <a:rPr lang="en-US" sz="1400" dirty="0">
                <a:solidFill>
                  <a:srgbClr val="1E2761"/>
                </a:solidFill>
              </a:rPr>
              <a:t>C'est pourquoi le protocole de mesure compte davantage que les réglages retenus : il reste valable, eux non.</a:t>
            </a:r>
            <a:endParaRPr lang="en-US" sz="1400" dirty="0"/>
          </a:p>
        </p:txBody>
      </p:sp>
      <p:sp>
        <p:nvSpPr>
          <p:cNvPr id="25" name="Slide Number Placeholder 0"/>
          <p:cNvSpPr>
            <a:spLocks noGrp="1"/>
          </p:cNvSpPr>
          <p:nvPr>
            <p:ph type="sldNum" sz="quarter" idx="4294967295"/>
          </p:nvPr>
        </p:nvSpPr>
        <p:spPr>
          <a:xfrm>
            <a:off x="1124712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rtlCol="0" anchor="ctr"/>
          <a:lstStyle/>
          <a:p>
            <a:pPr algn="l" indent="0" marL="0">
              <a:buNone/>
            </a:pPr>
            <a:r>
              <a:rPr lang="en-US" sz="3000" b="1" dirty="0">
                <a:solidFill>
                  <a:schemeClr val="tx1"/>
                </a:solidFill>
              </a:rPr>
              <a:t>Retour d'expérience</a:t>
            </a:r>
            <a:endParaRPr lang="en-US" sz="3000" dirty="0"/>
          </a:p>
        </p:txBody>
      </p:sp>
      <p:sp>
        <p:nvSpPr>
          <p:cNvPr id="3" name="Text 1"/>
          <p:cNvSpPr txBox="1"/>
          <p:nvPr/>
        </p:nvSpPr>
        <p:spPr>
          <a:xfrm>
            <a:off x="640080" y="1234440"/>
            <a:ext cx="5394960" cy="365760"/>
          </a:xfrm>
          <a:prstGeom prst="rect">
            <a:avLst/>
          </a:prstGeom>
          <a:noFill/>
          <a:ln/>
        </p:spPr>
        <p:txBody>
          <a:bodyPr wrap="square" lIns="0" tIns="0" rIns="0" bIns="0" rtlCol="0" anchor="ctr"/>
          <a:lstStyle/>
          <a:p>
            <a:pPr indent="0" marL="0">
              <a:buNone/>
            </a:pPr>
            <a:r>
              <a:rPr lang="en-US" sz="1700" b="1" dirty="0">
                <a:solidFill>
                  <a:srgbClr val="E07A3F"/>
                </a:solidFill>
              </a:rPr>
              <a:t>Difficultés rencontrées</a:t>
            </a:r>
            <a:endParaRPr lang="en-US" sz="1700" dirty="0"/>
          </a:p>
        </p:txBody>
      </p:sp>
      <p:sp>
        <p:nvSpPr>
          <p:cNvPr id="4" name="carte-Diagnostiquer sa"/>
          <p:cNvSpPr/>
          <p:nvPr/>
        </p:nvSpPr>
        <p:spPr>
          <a:xfrm>
            <a:off x="640080" y="1691640"/>
            <a:ext cx="5394960" cy="1188720"/>
          </a:xfrm>
          <a:prstGeom prst="roundRect">
            <a:avLst>
              <a:gd name="adj" fmla="val 4615"/>
            </a:avLst>
          </a:prstGeom>
          <a:solidFill>
            <a:srgbClr val="FBE9DF"/>
          </a:solidFill>
          <a:ln w="12700">
            <a:solidFill>
              <a:srgbClr val="FBE9DF"/>
            </a:solidFill>
            <a:prstDash val="solid"/>
          </a:ln>
        </p:spPr>
      </p:sp>
      <p:sp>
        <p:nvSpPr>
          <p:cNvPr id="5" name="Text 3"/>
          <p:cNvSpPr txBox="1"/>
          <p:nvPr/>
        </p:nvSpPr>
        <p:spPr>
          <a:xfrm>
            <a:off x="914400" y="1929384"/>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Diagnostiquer sans message d'erreur</a:t>
            </a:r>
            <a:endParaRPr lang="en-US" sz="1500" dirty="0"/>
          </a:p>
        </p:txBody>
      </p:sp>
      <p:sp>
        <p:nvSpPr>
          <p:cNvPr id="6" name="Text 4"/>
          <p:cNvSpPr txBox="1"/>
          <p:nvPr/>
        </p:nvSpPr>
        <p:spPr>
          <a:xfrm>
            <a:off x="914400" y="2350008"/>
            <a:ext cx="4846320" cy="34747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Le plus difficile n'a pas été de corriger, mais de remarquer qu'il y avait quelque chose à corriger.</a:t>
            </a:r>
            <a:endParaRPr lang="en-US" sz="1250" dirty="0"/>
          </a:p>
        </p:txBody>
      </p:sp>
      <p:sp>
        <p:nvSpPr>
          <p:cNvPr id="7" name="carte-Calibrer un outi"/>
          <p:cNvSpPr/>
          <p:nvPr/>
        </p:nvSpPr>
        <p:spPr>
          <a:xfrm>
            <a:off x="640080" y="2971800"/>
            <a:ext cx="5394960" cy="1188720"/>
          </a:xfrm>
          <a:prstGeom prst="roundRect">
            <a:avLst>
              <a:gd name="adj" fmla="val 4615"/>
            </a:avLst>
          </a:prstGeom>
          <a:solidFill>
            <a:srgbClr val="FBE9DF"/>
          </a:solidFill>
          <a:ln w="12700">
            <a:solidFill>
              <a:srgbClr val="FBE9DF"/>
            </a:solidFill>
            <a:prstDash val="solid"/>
          </a:ln>
        </p:spPr>
      </p:sp>
      <p:sp>
        <p:nvSpPr>
          <p:cNvPr id="8" name="Text 6"/>
          <p:cNvSpPr txBox="1"/>
          <p:nvPr/>
        </p:nvSpPr>
        <p:spPr>
          <a:xfrm>
            <a:off x="914400" y="3209544"/>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Calibrer un outil d'observabilité</a:t>
            </a:r>
            <a:endParaRPr lang="en-US" sz="1500" dirty="0"/>
          </a:p>
        </p:txBody>
      </p:sp>
      <p:sp>
        <p:nvSpPr>
          <p:cNvPr id="9" name="Text 7"/>
          <p:cNvSpPr txBox="1"/>
          <p:nvPr/>
        </p:nvSpPr>
        <p:spPr>
          <a:xfrm>
            <a:off x="914400" y="3630168"/>
            <a:ext cx="4846320" cy="34747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Trois réglages successifs, dont deux produisant des résultats faux mais crédibles.</a:t>
            </a:r>
            <a:endParaRPr lang="en-US" sz="1250" dirty="0"/>
          </a:p>
        </p:txBody>
      </p:sp>
      <p:sp>
        <p:nvSpPr>
          <p:cNvPr id="10" name="carte-Gérer des dépend"/>
          <p:cNvSpPr/>
          <p:nvPr/>
        </p:nvSpPr>
        <p:spPr>
          <a:xfrm>
            <a:off x="640080" y="4251960"/>
            <a:ext cx="5394960" cy="1188720"/>
          </a:xfrm>
          <a:prstGeom prst="roundRect">
            <a:avLst>
              <a:gd name="adj" fmla="val 4615"/>
            </a:avLst>
          </a:prstGeom>
          <a:solidFill>
            <a:srgbClr val="FBE9DF"/>
          </a:solidFill>
          <a:ln w="12700">
            <a:solidFill>
              <a:srgbClr val="FBE9DF"/>
            </a:solidFill>
            <a:prstDash val="solid"/>
          </a:ln>
        </p:spPr>
      </p:sp>
      <p:sp>
        <p:nvSpPr>
          <p:cNvPr id="11" name="Text 9"/>
          <p:cNvSpPr txBox="1"/>
          <p:nvPr/>
        </p:nvSpPr>
        <p:spPr>
          <a:xfrm>
            <a:off x="914400" y="4489704"/>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Gérer des dépendances concurrentes</a:t>
            </a:r>
            <a:endParaRPr lang="en-US" sz="1500" dirty="0"/>
          </a:p>
        </p:txBody>
      </p:sp>
      <p:sp>
        <p:nvSpPr>
          <p:cNvPr id="12" name="Text 10"/>
          <p:cNvSpPr txBox="1"/>
          <p:nvPr/>
        </p:nvSpPr>
        <p:spPr>
          <a:xfrm>
            <a:off x="914400" y="4910328"/>
            <a:ext cx="4846320" cy="34747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Deux outils exigeant des versions incompatibles d'un même composant, isolés dans des environnements séparés.</a:t>
            </a:r>
            <a:endParaRPr lang="en-US" sz="1250" dirty="0"/>
          </a:p>
        </p:txBody>
      </p:sp>
      <p:sp>
        <p:nvSpPr>
          <p:cNvPr id="13" name="Text 11"/>
          <p:cNvSpPr txBox="1"/>
          <p:nvPr/>
        </p:nvSpPr>
        <p:spPr>
          <a:xfrm>
            <a:off x="6217920" y="1234440"/>
            <a:ext cx="5394960" cy="365760"/>
          </a:xfrm>
          <a:prstGeom prst="rect">
            <a:avLst/>
          </a:prstGeom>
          <a:noFill/>
          <a:ln/>
        </p:spPr>
        <p:txBody>
          <a:bodyPr wrap="square" lIns="0" tIns="0" rIns="0" bIns="0" rtlCol="0" anchor="ctr"/>
          <a:lstStyle/>
          <a:p>
            <a:pPr indent="0" marL="0">
              <a:buNone/>
            </a:pPr>
            <a:r>
              <a:rPr lang="en-US" sz="1700" b="1" dirty="0">
                <a:solidFill>
                  <a:srgbClr val="2E8B6B"/>
                </a:solidFill>
              </a:rPr>
              <a:t>Acquis</a:t>
            </a:r>
            <a:endParaRPr lang="en-US" sz="1700" dirty="0"/>
          </a:p>
        </p:txBody>
      </p:sp>
      <p:sp>
        <p:nvSpPr>
          <p:cNvPr id="14" name="carte-Mesurer avant de"/>
          <p:cNvSpPr/>
          <p:nvPr/>
        </p:nvSpPr>
        <p:spPr>
          <a:xfrm>
            <a:off x="6217920" y="1691640"/>
            <a:ext cx="5394960" cy="1188720"/>
          </a:xfrm>
          <a:prstGeom prst="roundRect">
            <a:avLst>
              <a:gd name="adj" fmla="val 4615"/>
            </a:avLst>
          </a:prstGeom>
          <a:solidFill>
            <a:srgbClr val="E3F2EC"/>
          </a:solidFill>
          <a:ln w="12700">
            <a:solidFill>
              <a:srgbClr val="E3F2EC"/>
            </a:solidFill>
            <a:prstDash val="solid"/>
          </a:ln>
        </p:spPr>
      </p:sp>
      <p:sp>
        <p:nvSpPr>
          <p:cNvPr id="15" name="Text 13"/>
          <p:cNvSpPr txBox="1"/>
          <p:nvPr/>
        </p:nvSpPr>
        <p:spPr>
          <a:xfrm>
            <a:off x="6492240" y="1929384"/>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Mesurer avant de décider</a:t>
            </a:r>
            <a:endParaRPr lang="en-US" sz="1500" dirty="0"/>
          </a:p>
        </p:txBody>
      </p:sp>
      <p:sp>
        <p:nvSpPr>
          <p:cNvPr id="16" name="Text 14"/>
          <p:cNvSpPr txBox="1"/>
          <p:nvPr/>
        </p:nvSpPr>
        <p:spPr>
          <a:xfrm>
            <a:off x="6492240" y="2350008"/>
            <a:ext cx="4846320" cy="34747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Search Optimization n'a rien apporté ; le vrai gain du lookup venait de la sélection des colonnes.</a:t>
            </a:r>
            <a:endParaRPr lang="en-US" sz="1250" dirty="0"/>
          </a:p>
        </p:txBody>
      </p:sp>
      <p:sp>
        <p:nvSpPr>
          <p:cNvPr id="17" name="carte-Se méfier du ver"/>
          <p:cNvSpPr/>
          <p:nvPr/>
        </p:nvSpPr>
        <p:spPr>
          <a:xfrm>
            <a:off x="6217920" y="2971800"/>
            <a:ext cx="5394960" cy="1188720"/>
          </a:xfrm>
          <a:prstGeom prst="roundRect">
            <a:avLst>
              <a:gd name="adj" fmla="val 4615"/>
            </a:avLst>
          </a:prstGeom>
          <a:solidFill>
            <a:srgbClr val="E3F2EC"/>
          </a:solidFill>
          <a:ln w="12700">
            <a:solidFill>
              <a:srgbClr val="E3F2EC"/>
            </a:solidFill>
            <a:prstDash val="solid"/>
          </a:ln>
        </p:spPr>
      </p:sp>
      <p:sp>
        <p:nvSpPr>
          <p:cNvPr id="18" name="Text 16"/>
          <p:cNvSpPr txBox="1"/>
          <p:nvPr/>
        </p:nvSpPr>
        <p:spPr>
          <a:xfrm>
            <a:off x="6492240" y="3209544"/>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Se méfier du vert</a:t>
            </a:r>
            <a:endParaRPr lang="en-US" sz="1500" dirty="0"/>
          </a:p>
        </p:txBody>
      </p:sp>
      <p:sp>
        <p:nvSpPr>
          <p:cNvPr id="19" name="Text 17"/>
          <p:cNvSpPr txBox="1"/>
          <p:nvPr/>
        </p:nvSpPr>
        <p:spPr>
          <a:xfrm>
            <a:off x="6492240" y="3630168"/>
            <a:ext cx="4846320" cy="34747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Un contrôle qui passe sans rien examiner est plus dangereux qu'un contrôle absent.</a:t>
            </a:r>
            <a:endParaRPr lang="en-US" sz="1250" dirty="0"/>
          </a:p>
        </p:txBody>
      </p:sp>
      <p:sp>
        <p:nvSpPr>
          <p:cNvPr id="20" name="carte-Documenter le po"/>
          <p:cNvSpPr/>
          <p:nvPr/>
        </p:nvSpPr>
        <p:spPr>
          <a:xfrm>
            <a:off x="6217920" y="4251960"/>
            <a:ext cx="5394960" cy="1188720"/>
          </a:xfrm>
          <a:prstGeom prst="roundRect">
            <a:avLst>
              <a:gd name="adj" fmla="val 4615"/>
            </a:avLst>
          </a:prstGeom>
          <a:solidFill>
            <a:srgbClr val="E3F2EC"/>
          </a:solidFill>
          <a:ln w="12700">
            <a:solidFill>
              <a:srgbClr val="E3F2EC"/>
            </a:solidFill>
            <a:prstDash val="solid"/>
          </a:ln>
        </p:spPr>
      </p:sp>
      <p:sp>
        <p:nvSpPr>
          <p:cNvPr id="21" name="Text 19"/>
          <p:cNvSpPr txBox="1"/>
          <p:nvPr/>
        </p:nvSpPr>
        <p:spPr>
          <a:xfrm>
            <a:off x="6492240" y="4489704"/>
            <a:ext cx="4846320" cy="411480"/>
          </a:xfrm>
          <a:prstGeom prst="rect">
            <a:avLst/>
          </a:prstGeom>
          <a:noFill/>
          <a:ln/>
        </p:spPr>
        <p:txBody>
          <a:bodyPr wrap="square" lIns="0" tIns="0" rIns="0" bIns="0" rtlCol="0" anchor="ctr"/>
          <a:lstStyle/>
          <a:p>
            <a:pPr indent="0" marL="0">
              <a:buNone/>
            </a:pPr>
            <a:r>
              <a:rPr lang="en-US" sz="1500" b="1" dirty="0">
                <a:solidFill>
                  <a:schemeClr val="tx1"/>
                </a:solidFill>
              </a:rPr>
              <a:t>Documenter le pourquoi</a:t>
            </a:r>
            <a:endParaRPr lang="en-US" sz="1500" dirty="0"/>
          </a:p>
        </p:txBody>
      </p:sp>
      <p:sp>
        <p:nvSpPr>
          <p:cNvPr id="22" name="Text 20"/>
          <p:cNvSpPr txBox="1"/>
          <p:nvPr/>
        </p:nvSpPr>
        <p:spPr>
          <a:xfrm>
            <a:off x="6492240" y="4910328"/>
            <a:ext cx="4846320" cy="347472"/>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rPr>
              <a:t>Une décision dont le motif est écrit devient contestable, donc vérifiable, donc solide.</a:t>
            </a:r>
            <a:endParaRPr lang="en-US" sz="1250" dirty="0"/>
          </a:p>
        </p:txBody>
      </p:sp>
      <p:sp>
        <p:nvSpPr>
          <p:cNvPr id="25" name="Slide Number Placeholder 0"/>
          <p:cNvSpPr>
            <a:spLocks noGrp="1"/>
          </p:cNvSpPr>
          <p:nvPr>
            <p:ph type="sldNum" sz="quarter" idx="4294967295"/>
          </p:nvPr>
        </p:nvSpPr>
        <p:spPr>
          <a:xfrm>
            <a:off x="1124712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2194560"/>
            <a:ext cx="10881360" cy="1005840"/>
          </a:xfrm>
          <a:prstGeom prst="rect">
            <a:avLst/>
          </a:prstGeom>
          <a:noFill/>
          <a:ln/>
        </p:spPr>
        <p:txBody>
          <a:bodyPr wrap="square" rtlCol="0"/>
          <a:lstStyle/>
          <a:p>
            <a:pPr algn="l" indent="0" marL="0">
              <a:buNone/>
            </a:pPr>
            <a:r>
              <a:rPr lang="en-US" sz="3800" b="1" dirty="0">
                <a:solidFill>
                  <a:schemeClr val="bg1"/>
                </a:solidFill>
              </a:rPr>
              <a:t>Ce que je retiens</a:t>
            </a:r>
            <a:endParaRPr lang="en-US" sz="3800" dirty="0"/>
          </a:p>
        </p:txBody>
      </p:sp>
      <p:sp>
        <p:nvSpPr>
          <p:cNvPr id="3" name="Text 0"/>
          <p:cNvSpPr/>
          <p:nvPr>
            <p:ph idx="101" type="body" hasCustomPrompt="1"/>
          </p:nvPr>
        </p:nvSpPr>
        <p:spPr>
          <a:xfrm>
            <a:off x="640080" y="3291840"/>
            <a:ext cx="10881360" cy="1828800"/>
          </a:xfrm>
          <a:prstGeom prst="rect">
            <a:avLst/>
          </a:prstGeom>
          <a:noFill/>
          <a:ln/>
        </p:spPr>
        <p:txBody>
          <a:bodyPr wrap="square" rtlCol="0"/>
          <a:lstStyle/>
          <a:p>
            <a:pPr algn="l" indent="0" marL="0">
              <a:buNone/>
            </a:pPr>
            <a:r>
              <a:rPr lang="en-US" sz="1700" dirty="0">
                <a:solidFill>
                  <a:srgbClr val="CADCFC"/>
                </a:solidFill>
              </a:rPr>
              <a:t>Le pipeline a d'abord été rendu exécutable, puis mesuré avant d'être optimisé.</a:t>
            </a:r>
            <a:endParaRPr lang="en-US" sz="1700" dirty="0"/>
          </a:p>
          <a:p>
            <a:pPr algn="l" indent="0" marL="0">
              <a:buNone/>
            </a:pPr>
            <a:endParaRPr lang="en-US" sz="1700" dirty="0"/>
          </a:p>
          <a:p>
            <a:pPr algn="l" indent="0" marL="0">
              <a:buNone/>
            </a:pPr>
            <a:r>
              <a:rPr lang="en-US" sz="1700" dirty="0">
                <a:solidFill>
                  <a:srgbClr val="CADCFC"/>
                </a:solidFill>
              </a:rPr>
              <a:t>La mesure a montré que le levier principal n'était pas la puissance de calcul mais le nombre d'opérations demandées — un résultat valable à ce volume, et qu'il faudra réexaminer à l'échelle cible.</a:t>
            </a:r>
            <a:endParaRPr lang="en-US" sz="1700" dirty="0"/>
          </a:p>
          <a:p>
            <a:pPr algn="l" indent="0" marL="0">
              <a:buNone/>
            </a:pPr>
            <a:endParaRPr lang="en-US" sz="1700" dirty="0"/>
          </a:p>
          <a:p>
            <a:pPr algn="l" indent="0" marL="0">
              <a:buNone/>
            </a:pPr>
            <a:r>
              <a:rPr lang="en-US" sz="1700" b="1" dirty="0">
                <a:solidFill>
                  <a:srgbClr val="FFFFFF"/>
                </a:solidFill>
              </a:rPr>
              <a:t>C'est le protocole de mesure, plus que les réglages retenus, qui constitue le livrable durable.</a:t>
            </a:r>
            <a:endParaRPr lang="en-US" sz="1700" dirty="0"/>
          </a:p>
        </p:txBody>
      </p:sp>
      <p:sp>
        <p:nvSpPr>
          <p:cNvPr id="4" name="trait-fin"/>
          <p:cNvSpPr/>
          <p:nvPr/>
        </p:nvSpPr>
        <p:spPr>
          <a:xfrm>
            <a:off x="640080" y="5486400"/>
            <a:ext cx="1463040" cy="45720"/>
          </a:xfrm>
          <a:prstGeom prst="rect">
            <a:avLst/>
          </a:prstGeom>
          <a:solidFill>
            <a:srgbClr val="E07A3F"/>
          </a:solidFill>
          <a:ln w="12700">
            <a:solidFill>
              <a:srgbClr val="E07A3F"/>
            </a:solidFill>
            <a:prstDash val="solid"/>
          </a:ln>
        </p:spPr>
      </p:sp>
      <p:sp>
        <p:nvSpPr>
          <p:cNvPr id="5" name="Text 3"/>
          <p:cNvSpPr txBox="1"/>
          <p:nvPr/>
        </p:nvSpPr>
        <p:spPr>
          <a:xfrm>
            <a:off x="640080" y="5715000"/>
            <a:ext cx="7315200" cy="457200"/>
          </a:xfrm>
          <a:prstGeom prst="rect">
            <a:avLst/>
          </a:prstGeom>
          <a:noFill/>
          <a:ln/>
        </p:spPr>
        <p:txBody>
          <a:bodyPr wrap="square" lIns="0" tIns="0" rIns="0" bIns="0" rtlCol="0" anchor="ctr"/>
          <a:lstStyle/>
          <a:p>
            <a:pPr indent="0" marL="0">
              <a:buNone/>
            </a:pPr>
            <a:r>
              <a:rPr lang="en-US" sz="1800" b="1" dirty="0">
                <a:solidFill>
                  <a:srgbClr val="CADCFC"/>
                </a:solidFill>
              </a:rPr>
              <a:t>Merci de votre attention</a:t>
            </a:r>
            <a:endParaRPr lang="en-US" sz="1800" dirty="0"/>
          </a:p>
        </p:txBody>
      </p:sp>
    </p:spTree>
  </p:cSld>
  <p:clrMapOvr>
    <a:masterClrMapping/>
  </p:clrMapOvr>
</p:sld>
</file>

<file path=ppt/theme/theme1.xml><?xml version="1.0" encoding="utf-8"?>
<a:theme xmlns:a="http://schemas.openxmlformats.org/drawingml/2006/main" name="FinTrack Soutenance">
  <a:themeElements>
    <a:clrScheme name="FinTrack Soutenance">
      <a:dk1>
        <a:srgbClr val="0F1B3C"/>
      </a:dk1>
      <a:lt1>
        <a:srgbClr val="FFFFFF"/>
      </a:lt1>
      <a:dk2>
        <a:srgbClr val="1E2761"/>
      </a:dk2>
      <a:lt2>
        <a:srgbClr val="EEF2FA"/>
      </a:lt2>
      <a:accent1>
        <a:srgbClr val="1E2761"/>
      </a:accent1>
      <a:accent2>
        <a:srgbClr val="4A7FD1"/>
      </a:accent2>
      <a:accent3>
        <a:srgbClr val="E07A3F"/>
      </a:accent3>
      <a:accent4>
        <a:srgbClr val="2E8B6B"/>
      </a:accent4>
      <a:accent5>
        <a:srgbClr val="8A94A6"/>
      </a:accent5>
      <a:accent6>
        <a:srgbClr val="CADCFC"/>
      </a:accent6>
      <a:hlink>
        <a:srgbClr val="4A7FD1"/>
      </a:hlink>
      <a:folHlink>
        <a:srgbClr val="8A94A6"/>
      </a:folHlink>
    </a:clrScheme>
    <a:fontScheme name="FinTrack Soutena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FinTrack Perf &amp; Scale</dc:title>
  <dc:subject>PptxGenJS Presentation</dc:subject>
  <dc:creator>Soutenance FinTrack Perf &amp; Scale</dc:creator>
  <cp:lastModifiedBy>Soutenance FinTrack Perf &amp; Scale</cp:lastModifiedBy>
  <cp:revision>1</cp:revision>
  <dcterms:created xsi:type="dcterms:W3CDTF">2026-10-15T10:38:16Z</dcterms:created>
  <dcterms:modified xsi:type="dcterms:W3CDTF">2026-10-15T10:38:16Z</dcterms:modified>
</cp:coreProperties>
</file>